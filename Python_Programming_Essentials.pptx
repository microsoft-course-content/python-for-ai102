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8420" autoAdjust="0"/>
  </p:normalViewPr>
  <p:slideViewPr>
    <p:cSldViewPr snapToGrid="0" snapToObjects="1">
      <p:cViewPr varScale="1">
        <p:scale>
          <a:sx n="92" d="100"/>
          <a:sy n="92" d="100"/>
        </p:scale>
        <p:origin x="11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548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session will give you a practical introduction to Python programming. We'll cover the essentials you need to start writing Python code confidently. No prior programming experience is assumed. By the end, you'll be able to read, understand, and write basic Python scripts.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was created by Guido van Rossum in 1991. Its philosophy emphasizes code readability — the idea that code is read more often than it is written. Python is now the #1 most popular programming language (TIOBE Index, Stack Overflow surveys). It powers everything from web apps (Instagram, Spotify) to AI/ML (TensorFlow, PyTorch) to cloud automation. The Python Package Index (PyPI) hosts over 300,000 packages.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installing Python from python.org. Emphasize checking 'Add Python to PATH' — this is the #1 mistake beginners make. Show them how to verify the install by opening a terminal and typing 'python --version'. For the IDE, VS Code with the Python extension is the recommended setup. Jupyter Notebooks are excellent for learning because you can run code cell by cell. The Python REPL (Read-Eval-Print Loop) is the interactive shell you get by just typing 'python' in the terminal — great for quick experiments.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Python is dynamically typed — you don't declare variable types like in C# or Java. Python figures it out from the value you assign. Demonstrate creating variables live. Show that you can reassign a variable to a different type (though this isn't recommended). The type() function is useful for debugging — show it in the REPL. Strings can use single or double quotes. Booleans are capitalized: True and False (not true/false like JavaScript).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f-strings (formatted string literals) are the single most important string concept. They were introduced in Python 3.6 and are now the standard way to embed variables in strings. The syntax is simple: prefix the string with 'f' and put variables in curly braces {}. You can even put expressions inside the braces: f'{2 + 3}' gives '5'. Show common string methods: .upper(), .lower(), .strip(), .split(), .replace(). Demonstrate string slicing: greeting[0:5] gives 'Hello'. This is critical because lab code uses f-strings everywhere for building API URLs.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Lists and dictionaries are the two data structures students will encounter most frequently. Lists: ordered, indexed starting at 0, mutable. Show negative indexing ([-1] = last item). Common methods: append(), remove(), len(), sort(). Dictionaries: key-value pairs, like a real dictionary. The .get() method is safer than bracket notation because it returns None instead of crashing if the key doesn't exist. This is CRITICAL — API responses are always returned as dictionaries/nested dictionaries. If students understand dictionaries, they can parse any API response.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thing to emphasize: Python uses INDENTATION to define code blocks, not curly braces like C# or Java. This is non-negotiable — wrong indentation = broken code. Standard is 4 spaces (not tabs). Show if/elif/else with a simple example. Emphasize the colon at the end of each condition line. For loops: 'for item in collection' is the most Pythonic pattern. The 'in' keyword makes it readable. While loops are less common but useful for countdown or retry patterns. Demonstrate range(): for i in range(5) prints 0,1,2,3,4.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Functions are reusable blocks of code. The 'def' keyword defines a function, followed by the function name and parentheses with parameters. The 'return' statement sends a value back. Default parameters let you make arguments optional. Show that functions without a return statement return None implicitly. Docstrings (triple-quoted strings right after def) document what the function does — good practice. In lab code, you'll see functions used to organize API calls, process results, and handle configuration. Emphasize that functions make code modular and reusable.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Modules let you use code written by others (or organize your own code). Three categories: (1) Built-in modules come with Python — os for file paths and environment variables, json for parsing JSON data. (2) Third-party packages installed via pip — 'pip install requests' installs the HTTP library. (3) Your own .py files can be imported as modules. The 'from X import Y' pattern imports just what you need. Aliases ('import requests as req') are common for frequently used modules. Show 'pip install' in the terminal. Emphasize that import statements always go at the top of the file.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'with' statement is the Pythonic way to handle files — it automatically closes the file when the block ends, even if an error occurs. This prevents resource leaks. File modes: 'r' for reading, 'w' for writing (overwrites existing content), 'a' for appending. Binary mode 'rb' is used for reading images — this comes up in computer vision labs where you send image bytes to an API. Show a live demo: create a text file, write to it, then read it back. Emphasize that 'w' mode OVERWRITES — students often lose data this way.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handling is essential for robust code. The try/except pattern prevents your program from crashing. Try block: put the 'risky' code here. Except block: handle specific errors. You can have multiple except blocks for different error types. The generic 'except Exception as ex' catches anything. The finally block runs no matter what — even if an error occurred. This is used for cleanup (closing connections, etc.). In lab code, you'll see try/except around every API call to handle network errors, authentication failures, and rate limiting. Show a live demo: intentionally cause a ZeroDivisionError, then wrap it in try/except.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is the standard data format for APIs. Every API response you receive will be JSON. In Python, JSON maps perfectly to dictionaries. The json module has 4 key functions: dumps() converts a dict to a JSON string (the 's' stands for string). loads() converts a JSON string back to a dict. dump() writes a dict to a JSON file. load() reads a JSON file into a dict. Memory aid: functions ending in 's' work with strings, without 's' work with files. Show navigating nested JSON: response['results'][0]['name'] — this pattern appears in every API response.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'requests' library is Python's HTTP library — it makes API calls simple. Install with: pip install requests. The pattern is always: define URL, set headers (for authentication), send request, check status code, parse JSON response. Status codes to know: 200 = success, 401 = unauthorized (bad key), 403 = forbidden, 404 = not found, 429 = too many requests (rate limited), 500 = server error. response.json() automatically parses the JSON response into a Python dictionary. This is the exact pattern used in every cloud lab for calling REST APIs.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handy cheat sheet slide. Students can photograph this or you can share the deck for reference. Walk through each row briefly, reinforcing the syntax pattern. Emphasize that these 10 patterns cover about 90% of what they'll see in Python scripts. Encourage students to bookmark the official Python documentation at docs.python.org for deeper reference.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 session with encouragement. Remind students that programming is a skill that improves with practice — they don't need to memorize everything. Point them to the Jupyter Notebooks for hands-on practice. The official Python documentation (docs.python.org) is excellent and free. Encourage them to experiment in the Python REPL or Jupyter — break things, fix things, that's how you learn. Thank everyone for their time and ask if there are any final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D43B"/>
          </a:solidFill>
          <a:ln/>
        </p:spPr>
        <p:txBody>
          <a:bodyPr/>
          <a:lstStyle/>
          <a:p>
            <a:endParaRPr lang="en-IN"/>
          </a:p>
        </p:txBody>
      </p:sp>
      <p:sp>
        <p:nvSpPr>
          <p:cNvPr id="3" name="Shape 1"/>
          <p:cNvSpPr/>
          <p:nvPr/>
        </p:nvSpPr>
        <p:spPr>
          <a:xfrm>
            <a:off x="0" y="5070348"/>
            <a:ext cx="9144000" cy="73152"/>
          </a:xfrm>
          <a:prstGeom prst="rect">
            <a:avLst/>
          </a:prstGeom>
          <a:solidFill>
            <a:srgbClr val="FFD43B"/>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457200" y="640080"/>
            <a:ext cx="914400" cy="914400"/>
          </a:xfrm>
          <a:prstGeom prst="rect">
            <a:avLst/>
          </a:prstGeom>
        </p:spPr>
      </p:pic>
      <p:sp>
        <p:nvSpPr>
          <p:cNvPr id="5" name="Text 2"/>
          <p:cNvSpPr/>
          <p:nvPr/>
        </p:nvSpPr>
        <p:spPr>
          <a:xfrm>
            <a:off x="457200" y="1554480"/>
            <a:ext cx="8229600" cy="1645920"/>
          </a:xfrm>
          <a:prstGeom prst="rect">
            <a:avLst/>
          </a:prstGeom>
          <a:noFill/>
          <a:ln/>
        </p:spPr>
        <p:txBody>
          <a:bodyPr wrap="square" rtlCol="0" anchor="ctr"/>
          <a:lstStyle/>
          <a:p>
            <a:pPr marL="0" indent="0">
              <a:lnSpc>
                <a:spcPct val="110000"/>
              </a:lnSpc>
              <a:buNone/>
            </a:pPr>
            <a:r>
              <a:rPr lang="en-US" sz="4200" b="1" dirty="0">
                <a:solidFill>
                  <a:srgbClr val="FFFFFF"/>
                </a:solidFill>
                <a:latin typeface="Georgia" pitchFamily="34" charset="0"/>
                <a:ea typeface="Georgia" pitchFamily="34" charset="-122"/>
                <a:cs typeface="Georgia" pitchFamily="34" charset="-120"/>
              </a:rPr>
              <a:t>Python Programming</a:t>
            </a:r>
            <a:endParaRPr lang="en-US" sz="4200" dirty="0"/>
          </a:p>
          <a:p>
            <a:pPr marL="0" indent="0">
              <a:lnSpc>
                <a:spcPct val="110000"/>
              </a:lnSpc>
              <a:buNone/>
            </a:pPr>
            <a:r>
              <a:rPr lang="en-US" sz="4200" b="1" dirty="0">
                <a:solidFill>
                  <a:srgbClr val="FFFFFF"/>
                </a:solidFill>
                <a:latin typeface="Georgia" pitchFamily="34" charset="0"/>
                <a:ea typeface="Georgia" pitchFamily="34" charset="-122"/>
                <a:cs typeface="Georgia" pitchFamily="34" charset="-120"/>
              </a:rPr>
              <a:t>Essentials</a:t>
            </a:r>
            <a:endParaRPr lang="en-US" sz="4200" dirty="0"/>
          </a:p>
        </p:txBody>
      </p:sp>
      <p:sp>
        <p:nvSpPr>
          <p:cNvPr id="6" name="Text 3"/>
          <p:cNvSpPr/>
          <p:nvPr/>
        </p:nvSpPr>
        <p:spPr>
          <a:xfrm>
            <a:off x="457200" y="3217025"/>
            <a:ext cx="7315200" cy="457200"/>
          </a:xfrm>
          <a:prstGeom prst="rect">
            <a:avLst/>
          </a:prstGeom>
          <a:noFill/>
          <a:ln/>
        </p:spPr>
        <p:txBody>
          <a:bodyPr wrap="square" rtlCol="0" anchor="ctr"/>
          <a:lstStyle/>
          <a:p>
            <a:pPr marL="0" indent="0">
              <a:buNone/>
            </a:pPr>
            <a:r>
              <a:rPr lang="en-US" sz="1800" i="1" dirty="0">
                <a:solidFill>
                  <a:srgbClr val="F0C040"/>
                </a:solidFill>
                <a:latin typeface="Calibri" pitchFamily="34" charset="0"/>
                <a:ea typeface="Calibri" pitchFamily="34" charset="-122"/>
                <a:cs typeface="Calibri" pitchFamily="34" charset="-120"/>
              </a:rPr>
              <a:t>A Practical Introduction to Python for Beginners</a:t>
            </a:r>
            <a:endParaRPr lang="en-US" sz="1800" dirty="0"/>
          </a:p>
        </p:txBody>
      </p:sp>
      <p:sp>
        <p:nvSpPr>
          <p:cNvPr id="7" name="Shape 4"/>
          <p:cNvSpPr/>
          <p:nvPr/>
        </p:nvSpPr>
        <p:spPr>
          <a:xfrm>
            <a:off x="522514" y="3813047"/>
            <a:ext cx="6625772" cy="45719"/>
          </a:xfrm>
          <a:prstGeom prst="rect">
            <a:avLst/>
          </a:prstGeom>
          <a:solidFill>
            <a:srgbClr val="4B8BBE">
              <a:alpha val="50000"/>
            </a:srgbClr>
          </a:solidFill>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p:spPr>
        <p:txBody>
          <a:bodyPr/>
          <a:lstStyle/>
          <a:p>
            <a:endParaRPr lang="en-IN"/>
          </a:p>
        </p:txBody>
      </p:sp>
      <p:sp>
        <p:nvSpPr>
          <p:cNvPr id="3" name="Text 1"/>
          <p:cNvSpPr/>
          <p:nvPr/>
        </p:nvSpPr>
        <p:spPr>
          <a:xfrm>
            <a:off x="548640" y="13716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Why Python?</a:t>
            </a:r>
            <a:endParaRPr lang="en-US" sz="3200" dirty="0"/>
          </a:p>
        </p:txBody>
      </p:sp>
      <p:sp>
        <p:nvSpPr>
          <p:cNvPr id="4" name="Shape 2"/>
          <p:cNvSpPr/>
          <p:nvPr/>
        </p:nvSpPr>
        <p:spPr>
          <a:xfrm>
            <a:off x="457200" y="1234440"/>
            <a:ext cx="2606040" cy="2743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5" name="Shape 3"/>
          <p:cNvSpPr/>
          <p:nvPr/>
        </p:nvSpPr>
        <p:spPr>
          <a:xfrm>
            <a:off x="1325880" y="1463040"/>
            <a:ext cx="822960" cy="822960"/>
          </a:xfrm>
          <a:prstGeom prst="ellipse">
            <a:avLst/>
          </a:prstGeom>
          <a:solidFill>
            <a:srgbClr val="1B2A4A">
              <a:alpha val="92000"/>
            </a:srgbClr>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481328" y="1618488"/>
            <a:ext cx="502920" cy="502920"/>
          </a:xfrm>
          <a:prstGeom prst="rect">
            <a:avLst/>
          </a:prstGeom>
        </p:spPr>
      </p:pic>
      <p:sp>
        <p:nvSpPr>
          <p:cNvPr id="7" name="Text 4"/>
          <p:cNvSpPr/>
          <p:nvPr/>
        </p:nvSpPr>
        <p:spPr>
          <a:xfrm>
            <a:off x="640080" y="2423160"/>
            <a:ext cx="2240280" cy="411480"/>
          </a:xfrm>
          <a:prstGeom prst="rect">
            <a:avLst/>
          </a:prstGeom>
          <a:noFill/>
          <a:ln/>
        </p:spPr>
        <p:txBody>
          <a:bodyPr wrap="square" lIns="0" tIns="0" rIns="0" bIns="0" rtlCol="0" anchor="ctr"/>
          <a:lstStyle/>
          <a:p>
            <a:pPr marL="0" indent="0" algn="ctr">
              <a:buNone/>
            </a:pPr>
            <a:r>
              <a:rPr lang="en-US" sz="1500" b="1" dirty="0">
                <a:solidFill>
                  <a:srgbClr val="1B2A4A"/>
                </a:solidFill>
                <a:latin typeface="Georgia" pitchFamily="34" charset="0"/>
                <a:ea typeface="Georgia" pitchFamily="34" charset="-122"/>
                <a:cs typeface="Georgia" pitchFamily="34" charset="-120"/>
              </a:rPr>
              <a:t>Simple &amp; Readable</a:t>
            </a:r>
            <a:endParaRPr lang="en-US" sz="1500" dirty="0"/>
          </a:p>
        </p:txBody>
      </p:sp>
      <p:sp>
        <p:nvSpPr>
          <p:cNvPr id="8" name="Text 5"/>
          <p:cNvSpPr/>
          <p:nvPr/>
        </p:nvSpPr>
        <p:spPr>
          <a:xfrm>
            <a:off x="640080" y="2834640"/>
            <a:ext cx="2240280" cy="822960"/>
          </a:xfrm>
          <a:prstGeom prst="rect">
            <a:avLst/>
          </a:prstGeom>
          <a:noFill/>
          <a:ln/>
        </p:spPr>
        <p:txBody>
          <a:bodyPr wrap="square" rtlCol="0" anchor="ctr"/>
          <a:lstStyle/>
          <a:p>
            <a:pPr marL="0" indent="0" algn="ctr">
              <a:lnSpc>
                <a:spcPct val="130000"/>
              </a:lnSpc>
              <a:buNone/>
            </a:pPr>
            <a:r>
              <a:rPr lang="en-US" sz="1200" dirty="0">
                <a:solidFill>
                  <a:srgbClr val="3D4F5F"/>
                </a:solidFill>
                <a:latin typeface="Calibri" pitchFamily="34" charset="0"/>
                <a:ea typeface="Calibri" pitchFamily="34" charset="-122"/>
                <a:cs typeface="Calibri" pitchFamily="34" charset="-120"/>
              </a:rPr>
              <a:t>Python reads like English.</a:t>
            </a:r>
            <a:endParaRPr lang="en-US" sz="1200" dirty="0"/>
          </a:p>
          <a:p>
            <a:pPr marL="0" indent="0" algn="ctr">
              <a:lnSpc>
                <a:spcPct val="130000"/>
              </a:lnSpc>
              <a:buNone/>
            </a:pPr>
            <a:r>
              <a:rPr lang="en-US" sz="1200" dirty="0">
                <a:solidFill>
                  <a:srgbClr val="3D4F5F"/>
                </a:solidFill>
                <a:latin typeface="Calibri" pitchFamily="34" charset="0"/>
                <a:ea typeface="Calibri" pitchFamily="34" charset="-122"/>
                <a:cs typeface="Calibri" pitchFamily="34" charset="-120"/>
              </a:rPr>
              <a:t>Designed for clarity over complexity.</a:t>
            </a:r>
            <a:endParaRPr lang="en-US" sz="1200" dirty="0"/>
          </a:p>
        </p:txBody>
      </p:sp>
      <p:sp>
        <p:nvSpPr>
          <p:cNvPr id="9" name="Shape 6"/>
          <p:cNvSpPr/>
          <p:nvPr/>
        </p:nvSpPr>
        <p:spPr>
          <a:xfrm>
            <a:off x="3337560" y="1234440"/>
            <a:ext cx="2606040" cy="2743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10" name="Shape 7"/>
          <p:cNvSpPr/>
          <p:nvPr/>
        </p:nvSpPr>
        <p:spPr>
          <a:xfrm>
            <a:off x="4206240" y="1463040"/>
            <a:ext cx="822960" cy="822960"/>
          </a:xfrm>
          <a:prstGeom prst="ellipse">
            <a:avLst/>
          </a:prstGeom>
          <a:solidFill>
            <a:srgbClr val="1B2A4A">
              <a:alpha val="92000"/>
            </a:srgbClr>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4361688" y="1618488"/>
            <a:ext cx="502920" cy="502920"/>
          </a:xfrm>
          <a:prstGeom prst="rect">
            <a:avLst/>
          </a:prstGeom>
        </p:spPr>
      </p:pic>
      <p:sp>
        <p:nvSpPr>
          <p:cNvPr id="12" name="Text 8"/>
          <p:cNvSpPr/>
          <p:nvPr/>
        </p:nvSpPr>
        <p:spPr>
          <a:xfrm>
            <a:off x="3520440" y="2423160"/>
            <a:ext cx="2240280" cy="411480"/>
          </a:xfrm>
          <a:prstGeom prst="rect">
            <a:avLst/>
          </a:prstGeom>
          <a:noFill/>
          <a:ln/>
        </p:spPr>
        <p:txBody>
          <a:bodyPr wrap="square" lIns="0" tIns="0" rIns="0" bIns="0" rtlCol="0" anchor="ctr"/>
          <a:lstStyle/>
          <a:p>
            <a:pPr marL="0" indent="0" algn="ctr">
              <a:buNone/>
            </a:pPr>
            <a:r>
              <a:rPr lang="en-US" sz="1500" b="1" dirty="0">
                <a:solidFill>
                  <a:srgbClr val="1B2A4A"/>
                </a:solidFill>
                <a:latin typeface="Georgia" pitchFamily="34" charset="0"/>
                <a:ea typeface="Georgia" pitchFamily="34" charset="-122"/>
                <a:cs typeface="Georgia" pitchFamily="34" charset="-120"/>
              </a:rPr>
              <a:t>#1 Language Worldwide</a:t>
            </a:r>
            <a:endParaRPr lang="en-US" sz="1500" dirty="0"/>
          </a:p>
        </p:txBody>
      </p:sp>
      <p:sp>
        <p:nvSpPr>
          <p:cNvPr id="13" name="Text 9"/>
          <p:cNvSpPr/>
          <p:nvPr/>
        </p:nvSpPr>
        <p:spPr>
          <a:xfrm>
            <a:off x="3520440" y="2834640"/>
            <a:ext cx="2240280" cy="822960"/>
          </a:xfrm>
          <a:prstGeom prst="rect">
            <a:avLst/>
          </a:prstGeom>
          <a:noFill/>
          <a:ln/>
        </p:spPr>
        <p:txBody>
          <a:bodyPr wrap="square" rtlCol="0" anchor="ctr"/>
          <a:lstStyle/>
          <a:p>
            <a:pPr marL="0" indent="0" algn="ctr">
              <a:lnSpc>
                <a:spcPct val="130000"/>
              </a:lnSpc>
              <a:buNone/>
            </a:pPr>
            <a:r>
              <a:rPr lang="en-US" sz="1200" dirty="0">
                <a:solidFill>
                  <a:srgbClr val="3D4F5F"/>
                </a:solidFill>
                <a:latin typeface="Calibri" pitchFamily="34" charset="0"/>
                <a:ea typeface="Calibri" pitchFamily="34" charset="-122"/>
                <a:cs typeface="Calibri" pitchFamily="34" charset="-120"/>
              </a:rPr>
              <a:t>Most popular language</a:t>
            </a:r>
            <a:endParaRPr lang="en-US" sz="1200" dirty="0"/>
          </a:p>
          <a:p>
            <a:pPr marL="0" indent="0" algn="ctr">
              <a:lnSpc>
                <a:spcPct val="130000"/>
              </a:lnSpc>
              <a:buNone/>
            </a:pPr>
            <a:r>
              <a:rPr lang="en-US" sz="1200" dirty="0">
                <a:solidFill>
                  <a:srgbClr val="3D4F5F"/>
                </a:solidFill>
                <a:latin typeface="Calibri" pitchFamily="34" charset="0"/>
                <a:ea typeface="Calibri" pitchFamily="34" charset="-122"/>
                <a:cs typeface="Calibri" pitchFamily="34" charset="-120"/>
              </a:rPr>
              <a:t>for data, AI, cloud &amp; automation.</a:t>
            </a:r>
            <a:endParaRPr lang="en-US" sz="1200" dirty="0"/>
          </a:p>
        </p:txBody>
      </p:sp>
      <p:sp>
        <p:nvSpPr>
          <p:cNvPr id="14" name="Shape 10"/>
          <p:cNvSpPr/>
          <p:nvPr/>
        </p:nvSpPr>
        <p:spPr>
          <a:xfrm>
            <a:off x="6217920" y="1234440"/>
            <a:ext cx="2606040" cy="27432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15" name="Shape 11"/>
          <p:cNvSpPr/>
          <p:nvPr/>
        </p:nvSpPr>
        <p:spPr>
          <a:xfrm>
            <a:off x="7086600" y="1463040"/>
            <a:ext cx="822960" cy="822960"/>
          </a:xfrm>
          <a:prstGeom prst="ellipse">
            <a:avLst/>
          </a:prstGeom>
          <a:solidFill>
            <a:srgbClr val="1B2A4A">
              <a:alpha val="92000"/>
            </a:srgbClr>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7242048" y="1618488"/>
            <a:ext cx="502920" cy="502920"/>
          </a:xfrm>
          <a:prstGeom prst="rect">
            <a:avLst/>
          </a:prstGeom>
        </p:spPr>
      </p:pic>
      <p:sp>
        <p:nvSpPr>
          <p:cNvPr id="17" name="Text 12"/>
          <p:cNvSpPr/>
          <p:nvPr/>
        </p:nvSpPr>
        <p:spPr>
          <a:xfrm>
            <a:off x="6400800" y="2423160"/>
            <a:ext cx="2240280" cy="411480"/>
          </a:xfrm>
          <a:prstGeom prst="rect">
            <a:avLst/>
          </a:prstGeom>
          <a:noFill/>
          <a:ln/>
        </p:spPr>
        <p:txBody>
          <a:bodyPr wrap="square" lIns="0" tIns="0" rIns="0" bIns="0" rtlCol="0" anchor="ctr"/>
          <a:lstStyle/>
          <a:p>
            <a:pPr marL="0" indent="0" algn="ctr">
              <a:buNone/>
            </a:pPr>
            <a:r>
              <a:rPr lang="en-US" sz="1500" b="1" dirty="0">
                <a:solidFill>
                  <a:srgbClr val="1B2A4A"/>
                </a:solidFill>
                <a:latin typeface="Georgia" pitchFamily="34" charset="0"/>
                <a:ea typeface="Georgia" pitchFamily="34" charset="-122"/>
                <a:cs typeface="Georgia" pitchFamily="34" charset="-120"/>
              </a:rPr>
              <a:t>Massive Ecosystem</a:t>
            </a:r>
            <a:endParaRPr lang="en-US" sz="1500" dirty="0"/>
          </a:p>
        </p:txBody>
      </p:sp>
      <p:sp>
        <p:nvSpPr>
          <p:cNvPr id="18" name="Text 13"/>
          <p:cNvSpPr/>
          <p:nvPr/>
        </p:nvSpPr>
        <p:spPr>
          <a:xfrm>
            <a:off x="6400800" y="2834640"/>
            <a:ext cx="2240280" cy="822960"/>
          </a:xfrm>
          <a:prstGeom prst="rect">
            <a:avLst/>
          </a:prstGeom>
          <a:noFill/>
          <a:ln/>
        </p:spPr>
        <p:txBody>
          <a:bodyPr wrap="square" rtlCol="0" anchor="ctr"/>
          <a:lstStyle/>
          <a:p>
            <a:pPr marL="0" indent="0" algn="ctr">
              <a:lnSpc>
                <a:spcPct val="130000"/>
              </a:lnSpc>
              <a:buNone/>
            </a:pPr>
            <a:r>
              <a:rPr lang="en-US" sz="1200" dirty="0">
                <a:solidFill>
                  <a:srgbClr val="3D4F5F"/>
                </a:solidFill>
                <a:latin typeface="Calibri" pitchFamily="34" charset="0"/>
                <a:ea typeface="Calibri" pitchFamily="34" charset="-122"/>
                <a:cs typeface="Calibri" pitchFamily="34" charset="-120"/>
              </a:rPr>
              <a:t>300,000+ packages on PyPI.</a:t>
            </a:r>
            <a:endParaRPr lang="en-US" sz="1200" dirty="0"/>
          </a:p>
          <a:p>
            <a:pPr marL="0" indent="0" algn="ctr">
              <a:lnSpc>
                <a:spcPct val="130000"/>
              </a:lnSpc>
              <a:buNone/>
            </a:pPr>
            <a:r>
              <a:rPr lang="en-US" sz="1200" dirty="0">
                <a:solidFill>
                  <a:srgbClr val="3D4F5F"/>
                </a:solidFill>
                <a:latin typeface="Calibri" pitchFamily="34" charset="0"/>
                <a:ea typeface="Calibri" pitchFamily="34" charset="-122"/>
                <a:cs typeface="Calibri" pitchFamily="34" charset="-120"/>
              </a:rPr>
              <a:t>A library for everything.</a:t>
            </a:r>
            <a:endParaRPr lang="en-US" sz="1200" dirty="0"/>
          </a:p>
        </p:txBody>
      </p:sp>
      <p:sp>
        <p:nvSpPr>
          <p:cNvPr id="19" name="Text 14"/>
          <p:cNvSpPr/>
          <p:nvPr/>
        </p:nvSpPr>
        <p:spPr>
          <a:xfrm>
            <a:off x="2286000" y="4206240"/>
            <a:ext cx="4572000" cy="457200"/>
          </a:xfrm>
          <a:prstGeom prst="rect">
            <a:avLst/>
          </a:prstGeom>
          <a:noFill/>
          <a:ln/>
        </p:spPr>
        <p:txBody>
          <a:bodyPr wrap="square" rtlCol="0" anchor="ctr"/>
          <a:lstStyle/>
          <a:p>
            <a:pPr marL="0" indent="0" algn="ctr">
              <a:buNone/>
            </a:pPr>
            <a:r>
              <a:rPr lang="en-US" sz="2800" b="1" dirty="0">
                <a:solidFill>
                  <a:srgbClr val="FFD43B"/>
                </a:solidFill>
              </a:rPr>
              <a:t>"</a:t>
            </a:r>
            <a:r>
              <a:rPr lang="en-US" sz="1300" i="1" dirty="0">
                <a:solidFill>
                  <a:srgbClr val="8896A6"/>
                </a:solidFill>
              </a:rPr>
              <a:t> Life is short, use Python. </a:t>
            </a:r>
            <a:r>
              <a:rPr lang="en-US" sz="2800" b="1" dirty="0">
                <a:solidFill>
                  <a:srgbClr val="FFD43B"/>
                </a:solidFill>
              </a:rPr>
              <a:t>"</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p:spPr>
        <p:txBody>
          <a:bodyPr/>
          <a:lstStyle/>
          <a:p>
            <a:endParaRPr lang="en-IN"/>
          </a:p>
        </p:txBody>
      </p:sp>
      <p:sp>
        <p:nvSpPr>
          <p:cNvPr id="3" name="Text 1"/>
          <p:cNvSpPr/>
          <p:nvPr/>
        </p:nvSpPr>
        <p:spPr>
          <a:xfrm>
            <a:off x="548640" y="13716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Setting Up Python</a:t>
            </a:r>
            <a:endParaRPr lang="en-US" sz="3200" dirty="0"/>
          </a:p>
        </p:txBody>
      </p:sp>
      <p:sp>
        <p:nvSpPr>
          <p:cNvPr id="4" name="Shape 2"/>
          <p:cNvSpPr/>
          <p:nvPr/>
        </p:nvSpPr>
        <p:spPr>
          <a:xfrm>
            <a:off x="457200" y="1188720"/>
            <a:ext cx="3931920" cy="33832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pic>
        <p:nvPicPr>
          <p:cNvPr id="5" name="Image 0" descr="preencoded.png"/>
          <p:cNvPicPr>
            <a:picLocks noChangeAspect="1"/>
          </p:cNvPicPr>
          <p:nvPr/>
        </p:nvPicPr>
        <p:blipFill>
          <a:blip r:embed="rId3"/>
          <a:stretch>
            <a:fillRect/>
          </a:stretch>
        </p:blipFill>
        <p:spPr>
          <a:xfrm>
            <a:off x="731520" y="1371600"/>
            <a:ext cx="365760" cy="365760"/>
          </a:xfrm>
          <a:prstGeom prst="rect">
            <a:avLst/>
          </a:prstGeom>
        </p:spPr>
      </p:pic>
      <p:sp>
        <p:nvSpPr>
          <p:cNvPr id="6" name="Text 3"/>
          <p:cNvSpPr/>
          <p:nvPr/>
        </p:nvSpPr>
        <p:spPr>
          <a:xfrm>
            <a:off x="1188720" y="1371600"/>
            <a:ext cx="2743200" cy="365760"/>
          </a:xfrm>
          <a:prstGeom prst="rect">
            <a:avLst/>
          </a:prstGeom>
          <a:noFill/>
          <a:ln/>
        </p:spPr>
        <p:txBody>
          <a:bodyPr wrap="square" lIns="0" tIns="0" rIns="0" bIns="0" rtlCol="0" anchor="ctr"/>
          <a:lstStyle/>
          <a:p>
            <a:pPr marL="0" indent="0">
              <a:buNone/>
            </a:pPr>
            <a:r>
              <a:rPr lang="en-US" sz="1700" b="1" dirty="0">
                <a:solidFill>
                  <a:srgbClr val="1B2A4A"/>
                </a:solidFill>
                <a:latin typeface="Georgia" pitchFamily="34" charset="0"/>
                <a:ea typeface="Georgia" pitchFamily="34" charset="-122"/>
                <a:cs typeface="Georgia" pitchFamily="34" charset="-120"/>
              </a:rPr>
              <a:t>Installation</a:t>
            </a:r>
            <a:endParaRPr lang="en-US" sz="1700" dirty="0"/>
          </a:p>
        </p:txBody>
      </p:sp>
      <p:sp>
        <p:nvSpPr>
          <p:cNvPr id="7" name="Shape 4"/>
          <p:cNvSpPr/>
          <p:nvPr/>
        </p:nvSpPr>
        <p:spPr>
          <a:xfrm>
            <a:off x="822960" y="1965960"/>
            <a:ext cx="320040" cy="320040"/>
          </a:xfrm>
          <a:prstGeom prst="ellipse">
            <a:avLst/>
          </a:prstGeom>
          <a:solidFill>
            <a:srgbClr val="306998"/>
          </a:solidFill>
          <a:ln/>
        </p:spPr>
        <p:txBody>
          <a:bodyPr/>
          <a:lstStyle/>
          <a:p>
            <a:endParaRPr lang="en-IN"/>
          </a:p>
        </p:txBody>
      </p:sp>
      <p:sp>
        <p:nvSpPr>
          <p:cNvPr id="8" name="Text 5"/>
          <p:cNvSpPr/>
          <p:nvPr/>
        </p:nvSpPr>
        <p:spPr>
          <a:xfrm>
            <a:off x="822960" y="196596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p:nvPr/>
        </p:nvSpPr>
        <p:spPr>
          <a:xfrm>
            <a:off x="1280160" y="1965960"/>
            <a:ext cx="2926080" cy="320040"/>
          </a:xfrm>
          <a:prstGeom prst="rect">
            <a:avLst/>
          </a:prstGeom>
          <a:noFill/>
          <a:ln/>
        </p:spPr>
        <p:txBody>
          <a:bodyPr wrap="square" lIns="0" tIns="0" rIns="0" bIns="0" rtlCol="0" anchor="ctr"/>
          <a:lstStyle/>
          <a:p>
            <a:pPr marL="0" indent="0">
              <a:buNone/>
            </a:pPr>
            <a:r>
              <a:rPr lang="en-US" sz="1300" dirty="0">
                <a:solidFill>
                  <a:srgbClr val="2C3E50"/>
                </a:solidFill>
                <a:latin typeface="Calibri" pitchFamily="34" charset="0"/>
                <a:ea typeface="Calibri" pitchFamily="34" charset="-122"/>
                <a:cs typeface="Calibri" pitchFamily="34" charset="-120"/>
              </a:rPr>
              <a:t>Download from python.org</a:t>
            </a:r>
            <a:endParaRPr lang="en-US" sz="1300" dirty="0"/>
          </a:p>
        </p:txBody>
      </p:sp>
      <p:sp>
        <p:nvSpPr>
          <p:cNvPr id="10" name="Shape 7"/>
          <p:cNvSpPr/>
          <p:nvPr/>
        </p:nvSpPr>
        <p:spPr>
          <a:xfrm>
            <a:off x="822960" y="2560320"/>
            <a:ext cx="320040" cy="320040"/>
          </a:xfrm>
          <a:prstGeom prst="ellipse">
            <a:avLst/>
          </a:prstGeom>
          <a:solidFill>
            <a:srgbClr val="306998"/>
          </a:solidFill>
          <a:ln/>
        </p:spPr>
        <p:txBody>
          <a:bodyPr/>
          <a:lstStyle/>
          <a:p>
            <a:endParaRPr lang="en-IN"/>
          </a:p>
        </p:txBody>
      </p:sp>
      <p:sp>
        <p:nvSpPr>
          <p:cNvPr id="11" name="Text 8"/>
          <p:cNvSpPr/>
          <p:nvPr/>
        </p:nvSpPr>
        <p:spPr>
          <a:xfrm>
            <a:off x="822960" y="256032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9"/>
          <p:cNvSpPr/>
          <p:nvPr/>
        </p:nvSpPr>
        <p:spPr>
          <a:xfrm>
            <a:off x="1280160" y="2560320"/>
            <a:ext cx="2926080" cy="320040"/>
          </a:xfrm>
          <a:prstGeom prst="rect">
            <a:avLst/>
          </a:prstGeom>
          <a:noFill/>
          <a:ln/>
        </p:spPr>
        <p:txBody>
          <a:bodyPr wrap="square" lIns="0" tIns="0" rIns="0" bIns="0" rtlCol="0" anchor="ctr"/>
          <a:lstStyle/>
          <a:p>
            <a:pPr marL="0" indent="0">
              <a:buNone/>
            </a:pPr>
            <a:r>
              <a:rPr lang="en-US" sz="1300" dirty="0">
                <a:solidFill>
                  <a:srgbClr val="2C3E50"/>
                </a:solidFill>
                <a:latin typeface="Calibri" pitchFamily="34" charset="0"/>
                <a:ea typeface="Calibri" pitchFamily="34" charset="-122"/>
                <a:cs typeface="Calibri" pitchFamily="34" charset="-120"/>
              </a:rPr>
              <a:t>Check "Add Python to PATH"</a:t>
            </a:r>
            <a:endParaRPr lang="en-US" sz="1300" dirty="0"/>
          </a:p>
        </p:txBody>
      </p:sp>
      <p:sp>
        <p:nvSpPr>
          <p:cNvPr id="13" name="Shape 10"/>
          <p:cNvSpPr/>
          <p:nvPr/>
        </p:nvSpPr>
        <p:spPr>
          <a:xfrm>
            <a:off x="822960" y="3154680"/>
            <a:ext cx="320040" cy="320040"/>
          </a:xfrm>
          <a:prstGeom prst="ellipse">
            <a:avLst/>
          </a:prstGeom>
          <a:solidFill>
            <a:srgbClr val="306998"/>
          </a:solidFill>
          <a:ln/>
        </p:spPr>
        <p:txBody>
          <a:bodyPr/>
          <a:lstStyle/>
          <a:p>
            <a:endParaRPr lang="en-IN"/>
          </a:p>
        </p:txBody>
      </p:sp>
      <p:sp>
        <p:nvSpPr>
          <p:cNvPr id="14" name="Text 11"/>
          <p:cNvSpPr/>
          <p:nvPr/>
        </p:nvSpPr>
        <p:spPr>
          <a:xfrm>
            <a:off x="822960" y="315468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2"/>
          <p:cNvSpPr/>
          <p:nvPr/>
        </p:nvSpPr>
        <p:spPr>
          <a:xfrm>
            <a:off x="1280160" y="3154680"/>
            <a:ext cx="2926080" cy="320040"/>
          </a:xfrm>
          <a:prstGeom prst="rect">
            <a:avLst/>
          </a:prstGeom>
          <a:noFill/>
          <a:ln/>
        </p:spPr>
        <p:txBody>
          <a:bodyPr wrap="square" lIns="0" tIns="0" rIns="0" bIns="0" rtlCol="0" anchor="ctr"/>
          <a:lstStyle/>
          <a:p>
            <a:pPr marL="0" indent="0">
              <a:buNone/>
            </a:pPr>
            <a:r>
              <a:rPr lang="en-US" sz="1300" dirty="0">
                <a:solidFill>
                  <a:srgbClr val="2C3E50"/>
                </a:solidFill>
                <a:latin typeface="Calibri" pitchFamily="34" charset="0"/>
                <a:ea typeface="Calibri" pitchFamily="34" charset="-122"/>
                <a:cs typeface="Calibri" pitchFamily="34" charset="-120"/>
              </a:rPr>
              <a:t>Install (click Next through wizard)</a:t>
            </a:r>
            <a:endParaRPr lang="en-US" sz="1300" dirty="0"/>
          </a:p>
        </p:txBody>
      </p:sp>
      <p:sp>
        <p:nvSpPr>
          <p:cNvPr id="16" name="Shape 13"/>
          <p:cNvSpPr/>
          <p:nvPr/>
        </p:nvSpPr>
        <p:spPr>
          <a:xfrm>
            <a:off x="822960" y="3749040"/>
            <a:ext cx="320040" cy="320040"/>
          </a:xfrm>
          <a:prstGeom prst="ellipse">
            <a:avLst/>
          </a:prstGeom>
          <a:solidFill>
            <a:srgbClr val="306998"/>
          </a:solidFill>
          <a:ln/>
        </p:spPr>
        <p:txBody>
          <a:bodyPr/>
          <a:lstStyle/>
          <a:p>
            <a:endParaRPr lang="en-IN"/>
          </a:p>
        </p:txBody>
      </p:sp>
      <p:sp>
        <p:nvSpPr>
          <p:cNvPr id="17" name="Text 14"/>
          <p:cNvSpPr/>
          <p:nvPr/>
        </p:nvSpPr>
        <p:spPr>
          <a:xfrm>
            <a:off x="822960" y="3749040"/>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5"/>
          <p:cNvSpPr/>
          <p:nvPr/>
        </p:nvSpPr>
        <p:spPr>
          <a:xfrm>
            <a:off x="1280160" y="3749040"/>
            <a:ext cx="2926080" cy="320040"/>
          </a:xfrm>
          <a:prstGeom prst="rect">
            <a:avLst/>
          </a:prstGeom>
          <a:noFill/>
          <a:ln/>
        </p:spPr>
        <p:txBody>
          <a:bodyPr wrap="square" lIns="0" tIns="0" rIns="0" bIns="0" rtlCol="0" anchor="ctr"/>
          <a:lstStyle/>
          <a:p>
            <a:pPr marL="0" indent="0">
              <a:buNone/>
            </a:pPr>
            <a:r>
              <a:rPr lang="en-US" sz="1300" dirty="0">
                <a:solidFill>
                  <a:srgbClr val="2C3E50"/>
                </a:solidFill>
                <a:latin typeface="Calibri" pitchFamily="34" charset="0"/>
                <a:ea typeface="Calibri" pitchFamily="34" charset="-122"/>
                <a:cs typeface="Calibri" pitchFamily="34" charset="-120"/>
              </a:rPr>
              <a:t>Verify:  python --version</a:t>
            </a:r>
            <a:endParaRPr lang="en-US" sz="1300" dirty="0"/>
          </a:p>
        </p:txBody>
      </p:sp>
      <p:sp>
        <p:nvSpPr>
          <p:cNvPr id="19" name="Shape 16"/>
          <p:cNvSpPr/>
          <p:nvPr/>
        </p:nvSpPr>
        <p:spPr>
          <a:xfrm>
            <a:off x="4754880" y="1188720"/>
            <a:ext cx="3931920" cy="338328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pic>
        <p:nvPicPr>
          <p:cNvPr id="20" name="Image 1" descr="preencoded.png"/>
          <p:cNvPicPr>
            <a:picLocks noChangeAspect="1"/>
          </p:cNvPicPr>
          <p:nvPr/>
        </p:nvPicPr>
        <p:blipFill>
          <a:blip r:embed="rId4"/>
          <a:stretch>
            <a:fillRect/>
          </a:stretch>
        </p:blipFill>
        <p:spPr>
          <a:xfrm>
            <a:off x="5029200" y="1371600"/>
            <a:ext cx="365760" cy="365760"/>
          </a:xfrm>
          <a:prstGeom prst="rect">
            <a:avLst/>
          </a:prstGeom>
        </p:spPr>
      </p:pic>
      <p:sp>
        <p:nvSpPr>
          <p:cNvPr id="21" name="Text 17"/>
          <p:cNvSpPr/>
          <p:nvPr/>
        </p:nvSpPr>
        <p:spPr>
          <a:xfrm>
            <a:off x="5486400" y="1371600"/>
            <a:ext cx="2926080" cy="365760"/>
          </a:xfrm>
          <a:prstGeom prst="rect">
            <a:avLst/>
          </a:prstGeom>
          <a:noFill/>
          <a:ln/>
        </p:spPr>
        <p:txBody>
          <a:bodyPr wrap="square" lIns="0" tIns="0" rIns="0" bIns="0" rtlCol="0" anchor="ctr"/>
          <a:lstStyle/>
          <a:p>
            <a:pPr marL="0" indent="0">
              <a:buNone/>
            </a:pPr>
            <a:r>
              <a:rPr lang="en-US" sz="1700" b="1" dirty="0">
                <a:solidFill>
                  <a:srgbClr val="1B2A4A"/>
                </a:solidFill>
                <a:latin typeface="Georgia" pitchFamily="34" charset="0"/>
                <a:ea typeface="Georgia" pitchFamily="34" charset="-122"/>
                <a:cs typeface="Georgia" pitchFamily="34" charset="-120"/>
              </a:rPr>
              <a:t>Recommended Tools</a:t>
            </a:r>
            <a:endParaRPr lang="en-US" sz="1700" dirty="0"/>
          </a:p>
        </p:txBody>
      </p:sp>
      <p:pic>
        <p:nvPicPr>
          <p:cNvPr id="22" name="Image 2" descr="preencoded.png"/>
          <p:cNvPicPr>
            <a:picLocks noChangeAspect="1"/>
          </p:cNvPicPr>
          <p:nvPr/>
        </p:nvPicPr>
        <p:blipFill>
          <a:blip r:embed="rId5"/>
          <a:stretch>
            <a:fillRect/>
          </a:stretch>
        </p:blipFill>
        <p:spPr>
          <a:xfrm>
            <a:off x="5029200" y="1984248"/>
            <a:ext cx="228600" cy="228600"/>
          </a:xfrm>
          <a:prstGeom prst="rect">
            <a:avLst/>
          </a:prstGeom>
        </p:spPr>
      </p:pic>
      <p:sp>
        <p:nvSpPr>
          <p:cNvPr id="23" name="Text 18"/>
          <p:cNvSpPr/>
          <p:nvPr/>
        </p:nvSpPr>
        <p:spPr>
          <a:xfrm>
            <a:off x="5394960" y="1965960"/>
            <a:ext cx="310896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VS Code</a:t>
            </a:r>
            <a:r>
              <a:rPr lang="en-US" sz="1100" dirty="0">
                <a:solidFill>
                  <a:srgbClr val="3D4F5F"/>
                </a:solidFill>
                <a:latin typeface="Calibri" pitchFamily="34" charset="0"/>
                <a:ea typeface="Calibri" pitchFamily="34" charset="-122"/>
                <a:cs typeface="Calibri" pitchFamily="34" charset="-120"/>
              </a:rPr>
              <a:t>  —  Lightweight code editor with Python extension</a:t>
            </a:r>
            <a:endParaRPr lang="en-US" sz="1300" dirty="0"/>
          </a:p>
        </p:txBody>
      </p:sp>
      <p:pic>
        <p:nvPicPr>
          <p:cNvPr id="24" name="Image 3" descr="preencoded.png"/>
          <p:cNvPicPr>
            <a:picLocks noChangeAspect="1"/>
          </p:cNvPicPr>
          <p:nvPr/>
        </p:nvPicPr>
        <p:blipFill>
          <a:blip r:embed="rId5"/>
          <a:stretch>
            <a:fillRect/>
          </a:stretch>
        </p:blipFill>
        <p:spPr>
          <a:xfrm>
            <a:off x="5029200" y="2578608"/>
            <a:ext cx="228600" cy="228600"/>
          </a:xfrm>
          <a:prstGeom prst="rect">
            <a:avLst/>
          </a:prstGeom>
        </p:spPr>
      </p:pic>
      <p:sp>
        <p:nvSpPr>
          <p:cNvPr id="25" name="Text 19"/>
          <p:cNvSpPr/>
          <p:nvPr/>
        </p:nvSpPr>
        <p:spPr>
          <a:xfrm>
            <a:off x="5394960" y="2560320"/>
            <a:ext cx="310896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Jupyter Notebook</a:t>
            </a:r>
            <a:r>
              <a:rPr lang="en-US" sz="1100" dirty="0">
                <a:solidFill>
                  <a:srgbClr val="3D4F5F"/>
                </a:solidFill>
                <a:latin typeface="Calibri" pitchFamily="34" charset="0"/>
                <a:ea typeface="Calibri" pitchFamily="34" charset="-122"/>
                <a:cs typeface="Calibri" pitchFamily="34" charset="-120"/>
              </a:rPr>
              <a:t>  —  Interactive coding environment (great for learning)</a:t>
            </a:r>
            <a:endParaRPr lang="en-US" sz="1300" dirty="0"/>
          </a:p>
        </p:txBody>
      </p:sp>
      <p:pic>
        <p:nvPicPr>
          <p:cNvPr id="26" name="Image 4" descr="preencoded.png"/>
          <p:cNvPicPr>
            <a:picLocks noChangeAspect="1"/>
          </p:cNvPicPr>
          <p:nvPr/>
        </p:nvPicPr>
        <p:blipFill>
          <a:blip r:embed="rId5"/>
          <a:stretch>
            <a:fillRect/>
          </a:stretch>
        </p:blipFill>
        <p:spPr>
          <a:xfrm>
            <a:off x="5029200" y="3172968"/>
            <a:ext cx="228600" cy="228600"/>
          </a:xfrm>
          <a:prstGeom prst="rect">
            <a:avLst/>
          </a:prstGeom>
        </p:spPr>
      </p:pic>
      <p:sp>
        <p:nvSpPr>
          <p:cNvPr id="27" name="Text 20"/>
          <p:cNvSpPr/>
          <p:nvPr/>
        </p:nvSpPr>
        <p:spPr>
          <a:xfrm>
            <a:off x="5394960" y="3154680"/>
            <a:ext cx="310896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Python REPL</a:t>
            </a:r>
            <a:r>
              <a:rPr lang="en-US" sz="1100" dirty="0">
                <a:solidFill>
                  <a:srgbClr val="3D4F5F"/>
                </a:solidFill>
                <a:latin typeface="Calibri" pitchFamily="34" charset="0"/>
                <a:ea typeface="Calibri" pitchFamily="34" charset="-122"/>
                <a:cs typeface="Calibri" pitchFamily="34" charset="-120"/>
              </a:rPr>
              <a:t>  —  Built-in interactive shell — type python in terminal</a:t>
            </a:r>
            <a:endParaRPr lang="en-US" sz="1300" dirty="0"/>
          </a:p>
        </p:txBody>
      </p:sp>
      <p:pic>
        <p:nvPicPr>
          <p:cNvPr id="28" name="Image 5" descr="preencoded.png"/>
          <p:cNvPicPr>
            <a:picLocks noChangeAspect="1"/>
          </p:cNvPicPr>
          <p:nvPr/>
        </p:nvPicPr>
        <p:blipFill>
          <a:blip r:embed="rId5"/>
          <a:stretch>
            <a:fillRect/>
          </a:stretch>
        </p:blipFill>
        <p:spPr>
          <a:xfrm>
            <a:off x="5029200" y="3767328"/>
            <a:ext cx="228600" cy="228600"/>
          </a:xfrm>
          <a:prstGeom prst="rect">
            <a:avLst/>
          </a:prstGeom>
        </p:spPr>
      </p:pic>
      <p:sp>
        <p:nvSpPr>
          <p:cNvPr id="29" name="Text 21"/>
          <p:cNvSpPr/>
          <p:nvPr/>
        </p:nvSpPr>
        <p:spPr>
          <a:xfrm>
            <a:off x="5394960" y="3749040"/>
            <a:ext cx="310896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pip</a:t>
            </a:r>
            <a:r>
              <a:rPr lang="en-US" sz="1100" dirty="0">
                <a:solidFill>
                  <a:srgbClr val="3D4F5F"/>
                </a:solidFill>
                <a:latin typeface="Calibri" pitchFamily="34" charset="0"/>
                <a:ea typeface="Calibri" pitchFamily="34" charset="-122"/>
                <a:cs typeface="Calibri" pitchFamily="34" charset="-120"/>
              </a:rPr>
              <a:t>  —  Package manager — install libraries instantly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p:spPr>
        <p:txBody>
          <a:bodyPr/>
          <a:lstStyle/>
          <a:p>
            <a:endParaRPr lang="en-IN"/>
          </a:p>
        </p:txBody>
      </p:sp>
      <p:sp>
        <p:nvSpPr>
          <p:cNvPr id="3" name="Text 1"/>
          <p:cNvSpPr/>
          <p:nvPr/>
        </p:nvSpPr>
        <p:spPr>
          <a:xfrm>
            <a:off x="548640" y="13716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Variables &amp; Data Types</a:t>
            </a:r>
            <a:endParaRPr lang="en-US" sz="3200" dirty="0"/>
          </a:p>
        </p:txBody>
      </p:sp>
      <p:sp>
        <p:nvSpPr>
          <p:cNvPr id="4" name="Shape 2"/>
          <p:cNvSpPr/>
          <p:nvPr/>
        </p:nvSpPr>
        <p:spPr>
          <a:xfrm>
            <a:off x="457200" y="1188720"/>
            <a:ext cx="4754880" cy="3291840"/>
          </a:xfrm>
          <a:prstGeom prst="rect">
            <a:avLst/>
          </a:prstGeom>
          <a:solidFill>
            <a:srgbClr val="2C3E50"/>
          </a:solidFill>
          <a:ln/>
          <a:effectLst>
            <a:outerShdw blurRad="50800" dist="25400" dir="8100000" algn="bl" rotWithShape="0">
              <a:srgbClr val="000000">
                <a:alpha val="10000"/>
              </a:srgbClr>
            </a:outerShdw>
          </a:effectLst>
        </p:spPr>
        <p:txBody>
          <a:bodyPr/>
          <a:lstStyle/>
          <a:p>
            <a:endParaRPr lang="en-IN"/>
          </a:p>
        </p:txBody>
      </p:sp>
      <p:sp>
        <p:nvSpPr>
          <p:cNvPr id="5" name="Text 3"/>
          <p:cNvSpPr/>
          <p:nvPr/>
        </p:nvSpPr>
        <p:spPr>
          <a:xfrm>
            <a:off x="640080" y="1280160"/>
            <a:ext cx="3657600" cy="320040"/>
          </a:xfrm>
          <a:prstGeom prst="rect">
            <a:avLst/>
          </a:prstGeom>
          <a:noFill/>
          <a:ln/>
        </p:spPr>
        <p:txBody>
          <a:bodyPr wrap="square" lIns="0" tIns="0" rIns="0" bIns="0" rtlCol="0" anchor="ctr"/>
          <a:lstStyle/>
          <a:p>
            <a:pPr marL="0" indent="0">
              <a:buNone/>
            </a:pPr>
            <a:r>
              <a:rPr lang="en-US" sz="1100" dirty="0">
                <a:solidFill>
                  <a:srgbClr val="F0C040"/>
                </a:solidFill>
                <a:latin typeface="Consolas" pitchFamily="34" charset="0"/>
                <a:ea typeface="Consolas" pitchFamily="34" charset="-122"/>
                <a:cs typeface="Consolas" pitchFamily="34" charset="-120"/>
              </a:rPr>
              <a:t>&gt;&gt;&gt; Code Example</a:t>
            </a:r>
            <a:endParaRPr lang="en-US" sz="1100" dirty="0"/>
          </a:p>
        </p:txBody>
      </p:sp>
      <p:sp>
        <p:nvSpPr>
          <p:cNvPr id="6" name="Text 4"/>
          <p:cNvSpPr/>
          <p:nvPr/>
        </p:nvSpPr>
        <p:spPr>
          <a:xfrm>
            <a:off x="731520" y="1691640"/>
            <a:ext cx="4297680" cy="274320"/>
          </a:xfrm>
          <a:prstGeom prst="rect">
            <a:avLst/>
          </a:prstGeom>
          <a:noFill/>
          <a:ln/>
        </p:spPr>
        <p:txBody>
          <a:bodyPr wrap="square" lIns="0" tIns="0" rIns="0" bIns="0" rtlCol="0" anchor="ctr"/>
          <a:lstStyle/>
          <a:p>
            <a:pPr marL="0" indent="0">
              <a:buNone/>
            </a:pPr>
            <a:r>
              <a:rPr lang="en-US" sz="1200" dirty="0">
                <a:solidFill>
                  <a:srgbClr val="8896A6"/>
                </a:solidFill>
                <a:latin typeface="Consolas" pitchFamily="34" charset="0"/>
                <a:ea typeface="Consolas" pitchFamily="34" charset="-122"/>
                <a:cs typeface="Consolas" pitchFamily="34" charset="-120"/>
              </a:rPr>
              <a:t># Variables — no type declaration needed</a:t>
            </a:r>
            <a:endParaRPr lang="en-US" sz="1200" dirty="0"/>
          </a:p>
        </p:txBody>
      </p:sp>
      <p:sp>
        <p:nvSpPr>
          <p:cNvPr id="7" name="Text 5"/>
          <p:cNvSpPr/>
          <p:nvPr/>
        </p:nvSpPr>
        <p:spPr>
          <a:xfrm>
            <a:off x="731520" y="1984248"/>
            <a:ext cx="4297680" cy="274320"/>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name = "Azure"</a:t>
            </a:r>
            <a:endParaRPr lang="en-US" sz="1200" dirty="0"/>
          </a:p>
        </p:txBody>
      </p:sp>
      <p:sp>
        <p:nvSpPr>
          <p:cNvPr id="8" name="Text 6"/>
          <p:cNvSpPr/>
          <p:nvPr/>
        </p:nvSpPr>
        <p:spPr>
          <a:xfrm>
            <a:off x="731520" y="2276856"/>
            <a:ext cx="4297680" cy="274320"/>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version = 3.12</a:t>
            </a:r>
            <a:endParaRPr lang="en-US" sz="1200" dirty="0"/>
          </a:p>
        </p:txBody>
      </p:sp>
      <p:sp>
        <p:nvSpPr>
          <p:cNvPr id="9" name="Text 7"/>
          <p:cNvSpPr/>
          <p:nvPr/>
        </p:nvSpPr>
        <p:spPr>
          <a:xfrm>
            <a:off x="731520" y="2569464"/>
            <a:ext cx="4297680" cy="274320"/>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is_active = True</a:t>
            </a:r>
            <a:endParaRPr lang="en-US" sz="1200" dirty="0"/>
          </a:p>
        </p:txBody>
      </p:sp>
      <p:sp>
        <p:nvSpPr>
          <p:cNvPr id="10" name="Text 8"/>
          <p:cNvSpPr/>
          <p:nvPr/>
        </p:nvSpPr>
        <p:spPr>
          <a:xfrm>
            <a:off x="731520" y="2862072"/>
            <a:ext cx="4297680" cy="274320"/>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count = 42</a:t>
            </a:r>
            <a:endParaRPr lang="en-US" sz="1200" dirty="0"/>
          </a:p>
        </p:txBody>
      </p:sp>
      <p:sp>
        <p:nvSpPr>
          <p:cNvPr id="11" name="Text 9"/>
          <p:cNvSpPr/>
          <p:nvPr/>
        </p:nvSpPr>
        <p:spPr>
          <a:xfrm>
            <a:off x="731520" y="3154680"/>
            <a:ext cx="4297680" cy="274320"/>
          </a:xfrm>
          <a:prstGeom prst="rect">
            <a:avLst/>
          </a:prstGeom>
          <a:noFill/>
          <a:ln/>
        </p:spPr>
        <p:txBody>
          <a:bodyPr wrap="square" lIns="0" tIns="0" rIns="0" bIns="0" rtlCol="0" anchor="ctr"/>
          <a:lstStyle/>
          <a:p>
            <a:pPr marL="0" indent="0">
              <a:buNone/>
            </a:pPr>
            <a:endParaRPr lang="en-US" sz="1200" dirty="0"/>
          </a:p>
        </p:txBody>
      </p:sp>
      <p:sp>
        <p:nvSpPr>
          <p:cNvPr id="12" name="Text 10"/>
          <p:cNvSpPr/>
          <p:nvPr/>
        </p:nvSpPr>
        <p:spPr>
          <a:xfrm>
            <a:off x="731520" y="3447288"/>
            <a:ext cx="4297680" cy="274320"/>
          </a:xfrm>
          <a:prstGeom prst="rect">
            <a:avLst/>
          </a:prstGeom>
          <a:noFill/>
          <a:ln/>
        </p:spPr>
        <p:txBody>
          <a:bodyPr wrap="square" lIns="0" tIns="0" rIns="0" bIns="0" rtlCol="0" anchor="ctr"/>
          <a:lstStyle/>
          <a:p>
            <a:pPr marL="0" indent="0">
              <a:buNone/>
            </a:pPr>
            <a:r>
              <a:rPr lang="en-US" sz="1200" dirty="0">
                <a:solidFill>
                  <a:srgbClr val="8896A6"/>
                </a:solidFill>
                <a:latin typeface="Consolas" pitchFamily="34" charset="0"/>
                <a:ea typeface="Consolas" pitchFamily="34" charset="-122"/>
                <a:cs typeface="Consolas" pitchFamily="34" charset="-120"/>
              </a:rPr>
              <a:t># Check types</a:t>
            </a:r>
            <a:endParaRPr lang="en-US" sz="1200" dirty="0"/>
          </a:p>
        </p:txBody>
      </p:sp>
      <p:sp>
        <p:nvSpPr>
          <p:cNvPr id="13" name="Text 11"/>
          <p:cNvSpPr/>
          <p:nvPr/>
        </p:nvSpPr>
        <p:spPr>
          <a:xfrm>
            <a:off x="731520" y="3739896"/>
            <a:ext cx="4297680" cy="274320"/>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print(type(name))    # &lt;class 'str'&gt;</a:t>
            </a:r>
            <a:endParaRPr lang="en-US" sz="1200" dirty="0"/>
          </a:p>
        </p:txBody>
      </p:sp>
      <p:sp>
        <p:nvSpPr>
          <p:cNvPr id="14" name="Text 12"/>
          <p:cNvSpPr/>
          <p:nvPr/>
        </p:nvSpPr>
        <p:spPr>
          <a:xfrm>
            <a:off x="731520" y="4032504"/>
            <a:ext cx="4297680" cy="274320"/>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print(type(version)) # &lt;class 'float'&gt;</a:t>
            </a:r>
            <a:endParaRPr lang="en-US" sz="1200" dirty="0"/>
          </a:p>
        </p:txBody>
      </p:sp>
      <p:sp>
        <p:nvSpPr>
          <p:cNvPr id="15" name="Text 13"/>
          <p:cNvSpPr/>
          <p:nvPr/>
        </p:nvSpPr>
        <p:spPr>
          <a:xfrm>
            <a:off x="5486400" y="1188720"/>
            <a:ext cx="3200400" cy="365760"/>
          </a:xfrm>
          <a:prstGeom prst="rect">
            <a:avLst/>
          </a:prstGeom>
          <a:noFill/>
          <a:ln/>
        </p:spPr>
        <p:txBody>
          <a:bodyPr wrap="square" lIns="0" tIns="0" rIns="0" bIns="0" rtlCol="0" anchor="ctr"/>
          <a:lstStyle/>
          <a:p>
            <a:pPr marL="0" indent="0">
              <a:buNone/>
            </a:pPr>
            <a:r>
              <a:rPr lang="en-US" sz="1600" b="1" dirty="0">
                <a:solidFill>
                  <a:srgbClr val="1B2A4A"/>
                </a:solidFill>
                <a:latin typeface="Georgia" pitchFamily="34" charset="0"/>
                <a:ea typeface="Georgia" pitchFamily="34" charset="-122"/>
                <a:cs typeface="Georgia" pitchFamily="34" charset="-120"/>
              </a:rPr>
              <a:t>Core Data Types</a:t>
            </a:r>
            <a:endParaRPr lang="en-US" sz="1600" dirty="0"/>
          </a:p>
        </p:txBody>
      </p:sp>
      <p:sp>
        <p:nvSpPr>
          <p:cNvPr id="16" name="Shape 14"/>
          <p:cNvSpPr/>
          <p:nvPr/>
        </p:nvSpPr>
        <p:spPr>
          <a:xfrm>
            <a:off x="5486400" y="1691640"/>
            <a:ext cx="32004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17" name="Shape 15"/>
          <p:cNvSpPr/>
          <p:nvPr/>
        </p:nvSpPr>
        <p:spPr>
          <a:xfrm>
            <a:off x="5486400" y="1691640"/>
            <a:ext cx="64008" cy="548640"/>
          </a:xfrm>
          <a:prstGeom prst="rect">
            <a:avLst/>
          </a:prstGeom>
          <a:solidFill>
            <a:srgbClr val="306998"/>
          </a:solidFill>
          <a:ln/>
        </p:spPr>
        <p:txBody>
          <a:bodyPr/>
          <a:lstStyle/>
          <a:p>
            <a:endParaRPr lang="en-IN"/>
          </a:p>
        </p:txBody>
      </p:sp>
      <p:sp>
        <p:nvSpPr>
          <p:cNvPr id="18" name="Text 16"/>
          <p:cNvSpPr/>
          <p:nvPr/>
        </p:nvSpPr>
        <p:spPr>
          <a:xfrm>
            <a:off x="5669280" y="1737360"/>
            <a:ext cx="731520" cy="228600"/>
          </a:xfrm>
          <a:prstGeom prst="rect">
            <a:avLst/>
          </a:prstGeom>
          <a:noFill/>
          <a:ln/>
        </p:spPr>
        <p:txBody>
          <a:bodyPr wrap="square" lIns="0" tIns="0" rIns="0" bIns="0" rtlCol="0" anchor="ctr"/>
          <a:lstStyle/>
          <a:p>
            <a:pPr marL="0" indent="0">
              <a:buNone/>
            </a:pPr>
            <a:r>
              <a:rPr lang="en-US" sz="1300" b="1" dirty="0">
                <a:solidFill>
                  <a:srgbClr val="306998"/>
                </a:solidFill>
                <a:latin typeface="Consolas" pitchFamily="34" charset="0"/>
                <a:ea typeface="Consolas" pitchFamily="34" charset="-122"/>
                <a:cs typeface="Consolas" pitchFamily="34" charset="-120"/>
              </a:rPr>
              <a:t>str</a:t>
            </a:r>
            <a:endParaRPr lang="en-US" sz="1300" dirty="0"/>
          </a:p>
        </p:txBody>
      </p:sp>
      <p:sp>
        <p:nvSpPr>
          <p:cNvPr id="19" name="Text 17"/>
          <p:cNvSpPr/>
          <p:nvPr/>
        </p:nvSpPr>
        <p:spPr>
          <a:xfrm>
            <a:off x="6400800" y="1737360"/>
            <a:ext cx="1371600" cy="228600"/>
          </a:xfrm>
          <a:prstGeom prst="rect">
            <a:avLst/>
          </a:prstGeom>
          <a:noFill/>
          <a:ln/>
        </p:spPr>
        <p:txBody>
          <a:bodyPr wrap="square" lIns="0" tIns="0" rIns="0" bIns="0" rtlCol="0" anchor="ctr"/>
          <a:lstStyle/>
          <a:p>
            <a:pPr marL="0" indent="0">
              <a:buNone/>
            </a:pPr>
            <a:r>
              <a:rPr lang="en-US" sz="1100" dirty="0">
                <a:solidFill>
                  <a:srgbClr val="2C3E50"/>
                </a:solidFill>
                <a:latin typeface="Consolas" pitchFamily="34" charset="0"/>
                <a:ea typeface="Consolas" pitchFamily="34" charset="-122"/>
                <a:cs typeface="Consolas" pitchFamily="34" charset="-120"/>
              </a:rPr>
              <a:t>"Hello"</a:t>
            </a:r>
            <a:endParaRPr lang="en-US" sz="1100" dirty="0"/>
          </a:p>
        </p:txBody>
      </p:sp>
      <p:sp>
        <p:nvSpPr>
          <p:cNvPr id="20" name="Text 18"/>
          <p:cNvSpPr/>
          <p:nvPr/>
        </p:nvSpPr>
        <p:spPr>
          <a:xfrm>
            <a:off x="5669280" y="1965960"/>
            <a:ext cx="2834640" cy="182880"/>
          </a:xfrm>
          <a:prstGeom prst="rect">
            <a:avLst/>
          </a:prstGeom>
          <a:noFill/>
          <a:ln/>
        </p:spPr>
        <p:txBody>
          <a:bodyPr wrap="square" lIns="0" tIns="0" rIns="0" bIns="0" rtlCol="0" anchor="ctr"/>
          <a:lstStyle/>
          <a:p>
            <a:pPr marL="0" indent="0">
              <a:buNone/>
            </a:pPr>
            <a:r>
              <a:rPr lang="en-US" sz="1000" dirty="0">
                <a:solidFill>
                  <a:srgbClr val="8896A6"/>
                </a:solidFill>
                <a:latin typeface="Calibri" pitchFamily="34" charset="0"/>
                <a:ea typeface="Calibri" pitchFamily="34" charset="-122"/>
                <a:cs typeface="Calibri" pitchFamily="34" charset="-120"/>
              </a:rPr>
              <a:t>Text / strings</a:t>
            </a:r>
            <a:endParaRPr lang="en-US" sz="1000" dirty="0"/>
          </a:p>
        </p:txBody>
      </p:sp>
      <p:sp>
        <p:nvSpPr>
          <p:cNvPr id="21" name="Shape 19"/>
          <p:cNvSpPr/>
          <p:nvPr/>
        </p:nvSpPr>
        <p:spPr>
          <a:xfrm>
            <a:off x="5486400" y="2350008"/>
            <a:ext cx="32004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22" name="Shape 20"/>
          <p:cNvSpPr/>
          <p:nvPr/>
        </p:nvSpPr>
        <p:spPr>
          <a:xfrm>
            <a:off x="5486400" y="2350008"/>
            <a:ext cx="64008" cy="548640"/>
          </a:xfrm>
          <a:prstGeom prst="rect">
            <a:avLst/>
          </a:prstGeom>
          <a:solidFill>
            <a:srgbClr val="306998"/>
          </a:solidFill>
          <a:ln/>
        </p:spPr>
        <p:txBody>
          <a:bodyPr/>
          <a:lstStyle/>
          <a:p>
            <a:endParaRPr lang="en-IN"/>
          </a:p>
        </p:txBody>
      </p:sp>
      <p:sp>
        <p:nvSpPr>
          <p:cNvPr id="23" name="Text 21"/>
          <p:cNvSpPr/>
          <p:nvPr/>
        </p:nvSpPr>
        <p:spPr>
          <a:xfrm>
            <a:off x="5669280" y="2395728"/>
            <a:ext cx="731520" cy="228600"/>
          </a:xfrm>
          <a:prstGeom prst="rect">
            <a:avLst/>
          </a:prstGeom>
          <a:noFill/>
          <a:ln/>
        </p:spPr>
        <p:txBody>
          <a:bodyPr wrap="square" lIns="0" tIns="0" rIns="0" bIns="0" rtlCol="0" anchor="ctr"/>
          <a:lstStyle/>
          <a:p>
            <a:pPr marL="0" indent="0">
              <a:buNone/>
            </a:pPr>
            <a:r>
              <a:rPr lang="en-US" sz="1300" b="1" dirty="0">
                <a:solidFill>
                  <a:srgbClr val="306998"/>
                </a:solidFill>
                <a:latin typeface="Consolas" pitchFamily="34" charset="0"/>
                <a:ea typeface="Consolas" pitchFamily="34" charset="-122"/>
                <a:cs typeface="Consolas" pitchFamily="34" charset="-120"/>
              </a:rPr>
              <a:t>int</a:t>
            </a:r>
            <a:endParaRPr lang="en-US" sz="1300" dirty="0"/>
          </a:p>
        </p:txBody>
      </p:sp>
      <p:sp>
        <p:nvSpPr>
          <p:cNvPr id="24" name="Text 22"/>
          <p:cNvSpPr/>
          <p:nvPr/>
        </p:nvSpPr>
        <p:spPr>
          <a:xfrm>
            <a:off x="6400800" y="2395728"/>
            <a:ext cx="1371600" cy="228600"/>
          </a:xfrm>
          <a:prstGeom prst="rect">
            <a:avLst/>
          </a:prstGeom>
          <a:noFill/>
          <a:ln/>
        </p:spPr>
        <p:txBody>
          <a:bodyPr wrap="square" lIns="0" tIns="0" rIns="0" bIns="0" rtlCol="0" anchor="ctr"/>
          <a:lstStyle/>
          <a:p>
            <a:pPr marL="0" indent="0">
              <a:buNone/>
            </a:pPr>
            <a:r>
              <a:rPr lang="en-US" sz="1100" dirty="0">
                <a:solidFill>
                  <a:srgbClr val="2C3E50"/>
                </a:solidFill>
                <a:latin typeface="Consolas" pitchFamily="34" charset="0"/>
                <a:ea typeface="Consolas" pitchFamily="34" charset="-122"/>
                <a:cs typeface="Consolas" pitchFamily="34" charset="-120"/>
              </a:rPr>
              <a:t>42</a:t>
            </a:r>
            <a:endParaRPr lang="en-US" sz="1100" dirty="0"/>
          </a:p>
        </p:txBody>
      </p:sp>
      <p:sp>
        <p:nvSpPr>
          <p:cNvPr id="25" name="Text 23"/>
          <p:cNvSpPr/>
          <p:nvPr/>
        </p:nvSpPr>
        <p:spPr>
          <a:xfrm>
            <a:off x="5669280" y="2624328"/>
            <a:ext cx="2834640" cy="182880"/>
          </a:xfrm>
          <a:prstGeom prst="rect">
            <a:avLst/>
          </a:prstGeom>
          <a:noFill/>
          <a:ln/>
        </p:spPr>
        <p:txBody>
          <a:bodyPr wrap="square" lIns="0" tIns="0" rIns="0" bIns="0" rtlCol="0" anchor="ctr"/>
          <a:lstStyle/>
          <a:p>
            <a:pPr marL="0" indent="0">
              <a:buNone/>
            </a:pPr>
            <a:r>
              <a:rPr lang="en-US" sz="1000" dirty="0">
                <a:solidFill>
                  <a:srgbClr val="8896A6"/>
                </a:solidFill>
                <a:latin typeface="Calibri" pitchFamily="34" charset="0"/>
                <a:ea typeface="Calibri" pitchFamily="34" charset="-122"/>
                <a:cs typeface="Calibri" pitchFamily="34" charset="-120"/>
              </a:rPr>
              <a:t>Whole numbers</a:t>
            </a:r>
            <a:endParaRPr lang="en-US" sz="1000" dirty="0"/>
          </a:p>
        </p:txBody>
      </p:sp>
      <p:sp>
        <p:nvSpPr>
          <p:cNvPr id="26" name="Shape 24"/>
          <p:cNvSpPr/>
          <p:nvPr/>
        </p:nvSpPr>
        <p:spPr>
          <a:xfrm>
            <a:off x="5486400" y="3008376"/>
            <a:ext cx="32004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27" name="Shape 25"/>
          <p:cNvSpPr/>
          <p:nvPr/>
        </p:nvSpPr>
        <p:spPr>
          <a:xfrm>
            <a:off x="5486400" y="3008376"/>
            <a:ext cx="64008" cy="548640"/>
          </a:xfrm>
          <a:prstGeom prst="rect">
            <a:avLst/>
          </a:prstGeom>
          <a:solidFill>
            <a:srgbClr val="306998"/>
          </a:solidFill>
          <a:ln/>
        </p:spPr>
        <p:txBody>
          <a:bodyPr/>
          <a:lstStyle/>
          <a:p>
            <a:endParaRPr lang="en-IN"/>
          </a:p>
        </p:txBody>
      </p:sp>
      <p:sp>
        <p:nvSpPr>
          <p:cNvPr id="28" name="Text 26"/>
          <p:cNvSpPr/>
          <p:nvPr/>
        </p:nvSpPr>
        <p:spPr>
          <a:xfrm>
            <a:off x="5669280" y="3054096"/>
            <a:ext cx="731520" cy="228600"/>
          </a:xfrm>
          <a:prstGeom prst="rect">
            <a:avLst/>
          </a:prstGeom>
          <a:noFill/>
          <a:ln/>
        </p:spPr>
        <p:txBody>
          <a:bodyPr wrap="square" lIns="0" tIns="0" rIns="0" bIns="0" rtlCol="0" anchor="ctr"/>
          <a:lstStyle/>
          <a:p>
            <a:pPr marL="0" indent="0">
              <a:buNone/>
            </a:pPr>
            <a:r>
              <a:rPr lang="en-US" sz="1300" b="1" dirty="0">
                <a:solidFill>
                  <a:srgbClr val="306998"/>
                </a:solidFill>
                <a:latin typeface="Consolas" pitchFamily="34" charset="0"/>
                <a:ea typeface="Consolas" pitchFamily="34" charset="-122"/>
                <a:cs typeface="Consolas" pitchFamily="34" charset="-120"/>
              </a:rPr>
              <a:t>float</a:t>
            </a:r>
            <a:endParaRPr lang="en-US" sz="1300" dirty="0"/>
          </a:p>
        </p:txBody>
      </p:sp>
      <p:sp>
        <p:nvSpPr>
          <p:cNvPr id="29" name="Text 27"/>
          <p:cNvSpPr/>
          <p:nvPr/>
        </p:nvSpPr>
        <p:spPr>
          <a:xfrm>
            <a:off x="6400800" y="3054096"/>
            <a:ext cx="1371600" cy="228600"/>
          </a:xfrm>
          <a:prstGeom prst="rect">
            <a:avLst/>
          </a:prstGeom>
          <a:noFill/>
          <a:ln/>
        </p:spPr>
        <p:txBody>
          <a:bodyPr wrap="square" lIns="0" tIns="0" rIns="0" bIns="0" rtlCol="0" anchor="ctr"/>
          <a:lstStyle/>
          <a:p>
            <a:pPr marL="0" indent="0">
              <a:buNone/>
            </a:pPr>
            <a:r>
              <a:rPr lang="en-US" sz="1100" dirty="0">
                <a:solidFill>
                  <a:srgbClr val="2C3E50"/>
                </a:solidFill>
                <a:latin typeface="Consolas" pitchFamily="34" charset="0"/>
                <a:ea typeface="Consolas" pitchFamily="34" charset="-122"/>
                <a:cs typeface="Consolas" pitchFamily="34" charset="-120"/>
              </a:rPr>
              <a:t>3.14</a:t>
            </a:r>
            <a:endParaRPr lang="en-US" sz="1100" dirty="0"/>
          </a:p>
        </p:txBody>
      </p:sp>
      <p:sp>
        <p:nvSpPr>
          <p:cNvPr id="30" name="Text 28"/>
          <p:cNvSpPr/>
          <p:nvPr/>
        </p:nvSpPr>
        <p:spPr>
          <a:xfrm>
            <a:off x="5669280" y="3282696"/>
            <a:ext cx="2834640" cy="182880"/>
          </a:xfrm>
          <a:prstGeom prst="rect">
            <a:avLst/>
          </a:prstGeom>
          <a:noFill/>
          <a:ln/>
        </p:spPr>
        <p:txBody>
          <a:bodyPr wrap="square" lIns="0" tIns="0" rIns="0" bIns="0" rtlCol="0" anchor="ctr"/>
          <a:lstStyle/>
          <a:p>
            <a:pPr marL="0" indent="0">
              <a:buNone/>
            </a:pPr>
            <a:r>
              <a:rPr lang="en-US" sz="1000" dirty="0">
                <a:solidFill>
                  <a:srgbClr val="8896A6"/>
                </a:solidFill>
                <a:latin typeface="Calibri" pitchFamily="34" charset="0"/>
                <a:ea typeface="Calibri" pitchFamily="34" charset="-122"/>
                <a:cs typeface="Calibri" pitchFamily="34" charset="-120"/>
              </a:rPr>
              <a:t>Decimal numbers</a:t>
            </a:r>
            <a:endParaRPr lang="en-US" sz="1000" dirty="0"/>
          </a:p>
        </p:txBody>
      </p:sp>
      <p:sp>
        <p:nvSpPr>
          <p:cNvPr id="31" name="Shape 29"/>
          <p:cNvSpPr/>
          <p:nvPr/>
        </p:nvSpPr>
        <p:spPr>
          <a:xfrm>
            <a:off x="5486400" y="3666744"/>
            <a:ext cx="3200400" cy="54864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32" name="Shape 30"/>
          <p:cNvSpPr/>
          <p:nvPr/>
        </p:nvSpPr>
        <p:spPr>
          <a:xfrm>
            <a:off x="5486400" y="3666744"/>
            <a:ext cx="64008" cy="548640"/>
          </a:xfrm>
          <a:prstGeom prst="rect">
            <a:avLst/>
          </a:prstGeom>
          <a:solidFill>
            <a:srgbClr val="306998"/>
          </a:solidFill>
          <a:ln/>
        </p:spPr>
        <p:txBody>
          <a:bodyPr/>
          <a:lstStyle/>
          <a:p>
            <a:endParaRPr lang="en-IN"/>
          </a:p>
        </p:txBody>
      </p:sp>
      <p:sp>
        <p:nvSpPr>
          <p:cNvPr id="33" name="Text 31"/>
          <p:cNvSpPr/>
          <p:nvPr/>
        </p:nvSpPr>
        <p:spPr>
          <a:xfrm>
            <a:off x="5669280" y="3712464"/>
            <a:ext cx="731520" cy="228600"/>
          </a:xfrm>
          <a:prstGeom prst="rect">
            <a:avLst/>
          </a:prstGeom>
          <a:noFill/>
          <a:ln/>
        </p:spPr>
        <p:txBody>
          <a:bodyPr wrap="square" lIns="0" tIns="0" rIns="0" bIns="0" rtlCol="0" anchor="ctr"/>
          <a:lstStyle/>
          <a:p>
            <a:pPr marL="0" indent="0">
              <a:buNone/>
            </a:pPr>
            <a:r>
              <a:rPr lang="en-US" sz="1300" b="1" dirty="0">
                <a:solidFill>
                  <a:srgbClr val="306998"/>
                </a:solidFill>
                <a:latin typeface="Consolas" pitchFamily="34" charset="0"/>
                <a:ea typeface="Consolas" pitchFamily="34" charset="-122"/>
                <a:cs typeface="Consolas" pitchFamily="34" charset="-120"/>
              </a:rPr>
              <a:t>bool</a:t>
            </a:r>
            <a:endParaRPr lang="en-US" sz="1300" dirty="0"/>
          </a:p>
        </p:txBody>
      </p:sp>
      <p:sp>
        <p:nvSpPr>
          <p:cNvPr id="34" name="Text 32"/>
          <p:cNvSpPr/>
          <p:nvPr/>
        </p:nvSpPr>
        <p:spPr>
          <a:xfrm>
            <a:off x="6400800" y="3712464"/>
            <a:ext cx="1371600" cy="228600"/>
          </a:xfrm>
          <a:prstGeom prst="rect">
            <a:avLst/>
          </a:prstGeom>
          <a:noFill/>
          <a:ln/>
        </p:spPr>
        <p:txBody>
          <a:bodyPr wrap="square" lIns="0" tIns="0" rIns="0" bIns="0" rtlCol="0" anchor="ctr"/>
          <a:lstStyle/>
          <a:p>
            <a:pPr marL="0" indent="0">
              <a:buNone/>
            </a:pPr>
            <a:r>
              <a:rPr lang="en-US" sz="1100" dirty="0">
                <a:solidFill>
                  <a:srgbClr val="2C3E50"/>
                </a:solidFill>
                <a:latin typeface="Consolas" pitchFamily="34" charset="0"/>
                <a:ea typeface="Consolas" pitchFamily="34" charset="-122"/>
                <a:cs typeface="Consolas" pitchFamily="34" charset="-120"/>
              </a:rPr>
              <a:t>True / False</a:t>
            </a:r>
            <a:endParaRPr lang="en-US" sz="1100" dirty="0"/>
          </a:p>
        </p:txBody>
      </p:sp>
      <p:sp>
        <p:nvSpPr>
          <p:cNvPr id="35" name="Text 33"/>
          <p:cNvSpPr/>
          <p:nvPr/>
        </p:nvSpPr>
        <p:spPr>
          <a:xfrm>
            <a:off x="5669280" y="3941064"/>
            <a:ext cx="2834640" cy="182880"/>
          </a:xfrm>
          <a:prstGeom prst="rect">
            <a:avLst/>
          </a:prstGeom>
          <a:noFill/>
          <a:ln/>
        </p:spPr>
        <p:txBody>
          <a:bodyPr wrap="square" lIns="0" tIns="0" rIns="0" bIns="0" rtlCol="0" anchor="ctr"/>
          <a:lstStyle/>
          <a:p>
            <a:pPr marL="0" indent="0">
              <a:buNone/>
            </a:pPr>
            <a:r>
              <a:rPr lang="en-US" sz="1000" dirty="0">
                <a:solidFill>
                  <a:srgbClr val="8896A6"/>
                </a:solidFill>
                <a:latin typeface="Calibri" pitchFamily="34" charset="0"/>
                <a:ea typeface="Calibri" pitchFamily="34" charset="-122"/>
                <a:cs typeface="Calibri" pitchFamily="34" charset="-120"/>
              </a:rPr>
              <a:t>Boolean values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p:spPr>
        <p:txBody>
          <a:bodyPr/>
          <a:lstStyle/>
          <a:p>
            <a:endParaRPr lang="en-IN"/>
          </a:p>
        </p:txBody>
      </p:sp>
      <p:sp>
        <p:nvSpPr>
          <p:cNvPr id="3" name="Text 1"/>
          <p:cNvSpPr/>
          <p:nvPr/>
        </p:nvSpPr>
        <p:spPr>
          <a:xfrm>
            <a:off x="548640" y="13716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Strings &amp; f-Strings</a:t>
            </a:r>
            <a:endParaRPr lang="en-US" sz="3200" dirty="0"/>
          </a:p>
        </p:txBody>
      </p:sp>
      <p:sp>
        <p:nvSpPr>
          <p:cNvPr id="4" name="Shape 2"/>
          <p:cNvSpPr/>
          <p:nvPr/>
        </p:nvSpPr>
        <p:spPr>
          <a:xfrm>
            <a:off x="457200" y="1188720"/>
            <a:ext cx="8229600" cy="3474720"/>
          </a:xfrm>
          <a:prstGeom prst="rect">
            <a:avLst/>
          </a:prstGeom>
          <a:solidFill>
            <a:srgbClr val="2C3E50"/>
          </a:solidFill>
          <a:ln/>
          <a:effectLst>
            <a:outerShdw blurRad="50800" dist="25400" dir="8100000" algn="bl" rotWithShape="0">
              <a:srgbClr val="000000">
                <a:alpha val="10000"/>
              </a:srgbClr>
            </a:outerShdw>
          </a:effectLst>
        </p:spPr>
        <p:txBody>
          <a:bodyPr/>
          <a:lstStyle/>
          <a:p>
            <a:endParaRPr lang="en-IN"/>
          </a:p>
        </p:txBody>
      </p:sp>
      <p:sp>
        <p:nvSpPr>
          <p:cNvPr id="5" name="Text 3"/>
          <p:cNvSpPr/>
          <p:nvPr/>
        </p:nvSpPr>
        <p:spPr>
          <a:xfrm>
            <a:off x="640080" y="1280160"/>
            <a:ext cx="7315200" cy="320040"/>
          </a:xfrm>
          <a:prstGeom prst="rect">
            <a:avLst/>
          </a:prstGeom>
          <a:noFill/>
          <a:ln/>
        </p:spPr>
        <p:txBody>
          <a:bodyPr wrap="square" lIns="0" tIns="0" rIns="0" bIns="0" rtlCol="0" anchor="ctr"/>
          <a:lstStyle/>
          <a:p>
            <a:pPr marL="0" indent="0">
              <a:buNone/>
            </a:pPr>
            <a:r>
              <a:rPr lang="en-US" sz="1100" dirty="0">
                <a:solidFill>
                  <a:srgbClr val="F0C040"/>
                </a:solidFill>
                <a:latin typeface="Consolas" pitchFamily="34" charset="0"/>
                <a:ea typeface="Consolas" pitchFamily="34" charset="-122"/>
                <a:cs typeface="Consolas" pitchFamily="34" charset="-120"/>
              </a:rPr>
              <a:t>&gt;&gt;&gt; f-Strings — The Modern Way to Format Text</a:t>
            </a:r>
            <a:endParaRPr lang="en-US" sz="1100" dirty="0"/>
          </a:p>
        </p:txBody>
      </p:sp>
      <p:sp>
        <p:nvSpPr>
          <p:cNvPr id="6" name="Text 4"/>
          <p:cNvSpPr/>
          <p:nvPr/>
        </p:nvSpPr>
        <p:spPr>
          <a:xfrm>
            <a:off x="731520" y="1691640"/>
            <a:ext cx="7772400" cy="256032"/>
          </a:xfrm>
          <a:prstGeom prst="rect">
            <a:avLst/>
          </a:prstGeom>
          <a:noFill/>
          <a:ln/>
        </p:spPr>
        <p:txBody>
          <a:bodyPr wrap="square" lIns="0" tIns="0" rIns="0" bIns="0" rtlCol="0" anchor="ctr"/>
          <a:lstStyle/>
          <a:p>
            <a:pPr marL="0" indent="0">
              <a:buNone/>
            </a:pPr>
            <a:r>
              <a:rPr lang="en-US" sz="1200" dirty="0">
                <a:solidFill>
                  <a:srgbClr val="8896A6"/>
                </a:solidFill>
                <a:latin typeface="Consolas" pitchFamily="34" charset="0"/>
                <a:ea typeface="Consolas" pitchFamily="34" charset="-122"/>
                <a:cs typeface="Consolas" pitchFamily="34" charset="-120"/>
              </a:rPr>
              <a:t># Basic string operations</a:t>
            </a:r>
            <a:endParaRPr lang="en-US" sz="1200" dirty="0"/>
          </a:p>
        </p:txBody>
      </p:sp>
      <p:sp>
        <p:nvSpPr>
          <p:cNvPr id="7" name="Text 5"/>
          <p:cNvSpPr/>
          <p:nvPr/>
        </p:nvSpPr>
        <p:spPr>
          <a:xfrm>
            <a:off x="731520" y="1965960"/>
            <a:ext cx="777240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greeting = "Hello, World!"</a:t>
            </a:r>
            <a:endParaRPr lang="en-US" sz="1200" dirty="0"/>
          </a:p>
        </p:txBody>
      </p:sp>
      <p:sp>
        <p:nvSpPr>
          <p:cNvPr id="8" name="Text 6"/>
          <p:cNvSpPr/>
          <p:nvPr/>
        </p:nvSpPr>
        <p:spPr>
          <a:xfrm>
            <a:off x="731520" y="2240280"/>
            <a:ext cx="777240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print(greeting.upper())      # HELLO, WORLD!</a:t>
            </a:r>
            <a:endParaRPr lang="en-US" sz="1200" dirty="0"/>
          </a:p>
        </p:txBody>
      </p:sp>
      <p:sp>
        <p:nvSpPr>
          <p:cNvPr id="9" name="Text 7"/>
          <p:cNvSpPr/>
          <p:nvPr/>
        </p:nvSpPr>
        <p:spPr>
          <a:xfrm>
            <a:off x="731520" y="2514600"/>
            <a:ext cx="777240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print(greeting.lower())      # hello, world!</a:t>
            </a:r>
            <a:endParaRPr lang="en-US" sz="1200" dirty="0"/>
          </a:p>
        </p:txBody>
      </p:sp>
      <p:sp>
        <p:nvSpPr>
          <p:cNvPr id="10" name="Text 8"/>
          <p:cNvSpPr/>
          <p:nvPr/>
        </p:nvSpPr>
        <p:spPr>
          <a:xfrm>
            <a:off x="731520" y="2788920"/>
            <a:ext cx="777240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print(len(greeting))         # 13</a:t>
            </a:r>
            <a:endParaRPr lang="en-US" sz="1200" dirty="0"/>
          </a:p>
        </p:txBody>
      </p:sp>
      <p:sp>
        <p:nvSpPr>
          <p:cNvPr id="11" name="Text 9"/>
          <p:cNvSpPr/>
          <p:nvPr/>
        </p:nvSpPr>
        <p:spPr>
          <a:xfrm>
            <a:off x="731520" y="3063240"/>
            <a:ext cx="7772400" cy="256032"/>
          </a:xfrm>
          <a:prstGeom prst="rect">
            <a:avLst/>
          </a:prstGeom>
          <a:noFill/>
          <a:ln/>
        </p:spPr>
        <p:txBody>
          <a:bodyPr wrap="square" lIns="0" tIns="0" rIns="0" bIns="0" rtlCol="0" anchor="ctr"/>
          <a:lstStyle/>
          <a:p>
            <a:pPr marL="0" indent="0">
              <a:buNone/>
            </a:pPr>
            <a:endParaRPr lang="en-US" sz="1200" dirty="0"/>
          </a:p>
        </p:txBody>
      </p:sp>
      <p:sp>
        <p:nvSpPr>
          <p:cNvPr id="12" name="Text 10"/>
          <p:cNvSpPr/>
          <p:nvPr/>
        </p:nvSpPr>
        <p:spPr>
          <a:xfrm>
            <a:off x="731520" y="3337560"/>
            <a:ext cx="7772400" cy="256032"/>
          </a:xfrm>
          <a:prstGeom prst="rect">
            <a:avLst/>
          </a:prstGeom>
          <a:noFill/>
          <a:ln/>
        </p:spPr>
        <p:txBody>
          <a:bodyPr wrap="square" lIns="0" tIns="0" rIns="0" bIns="0" rtlCol="0" anchor="ctr"/>
          <a:lstStyle/>
          <a:p>
            <a:pPr marL="0" indent="0">
              <a:buNone/>
            </a:pPr>
            <a:r>
              <a:rPr lang="en-US" sz="1200" dirty="0">
                <a:solidFill>
                  <a:srgbClr val="8896A6"/>
                </a:solidFill>
                <a:latin typeface="Consolas" pitchFamily="34" charset="0"/>
                <a:ea typeface="Consolas" pitchFamily="34" charset="-122"/>
                <a:cs typeface="Consolas" pitchFamily="34" charset="-120"/>
              </a:rPr>
              <a:t># f-Strings (formatted string literals) — Python 3.6+</a:t>
            </a:r>
            <a:endParaRPr lang="en-US" sz="1200" dirty="0"/>
          </a:p>
        </p:txBody>
      </p:sp>
      <p:sp>
        <p:nvSpPr>
          <p:cNvPr id="13" name="Text 11"/>
          <p:cNvSpPr/>
          <p:nvPr/>
        </p:nvSpPr>
        <p:spPr>
          <a:xfrm>
            <a:off x="731520" y="3611880"/>
            <a:ext cx="777240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name = "Cloud"</a:t>
            </a:r>
            <a:endParaRPr lang="en-US" sz="1200" dirty="0"/>
          </a:p>
        </p:txBody>
      </p:sp>
      <p:sp>
        <p:nvSpPr>
          <p:cNvPr id="14" name="Text 12"/>
          <p:cNvSpPr/>
          <p:nvPr/>
        </p:nvSpPr>
        <p:spPr>
          <a:xfrm>
            <a:off x="731520" y="3886200"/>
            <a:ext cx="777240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version = 3</a:t>
            </a:r>
            <a:endParaRPr lang="en-US" sz="1200" dirty="0"/>
          </a:p>
        </p:txBody>
      </p:sp>
      <p:sp>
        <p:nvSpPr>
          <p:cNvPr id="15" name="Text 13"/>
          <p:cNvSpPr/>
          <p:nvPr/>
        </p:nvSpPr>
        <p:spPr>
          <a:xfrm>
            <a:off x="731520" y="4160520"/>
            <a:ext cx="777240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print(f"Welcome to {name} v{version}!")</a:t>
            </a:r>
            <a:endParaRPr lang="en-US" sz="1200" dirty="0"/>
          </a:p>
        </p:txBody>
      </p:sp>
      <p:sp>
        <p:nvSpPr>
          <p:cNvPr id="16" name="Text 14"/>
          <p:cNvSpPr/>
          <p:nvPr/>
        </p:nvSpPr>
        <p:spPr>
          <a:xfrm>
            <a:off x="731520" y="4434840"/>
            <a:ext cx="7772400" cy="256032"/>
          </a:xfrm>
          <a:prstGeom prst="rect">
            <a:avLst/>
          </a:prstGeom>
          <a:noFill/>
          <a:ln/>
        </p:spPr>
        <p:txBody>
          <a:bodyPr wrap="square" lIns="0" tIns="0" rIns="0" bIns="0" rtlCol="0" anchor="ctr"/>
          <a:lstStyle/>
          <a:p>
            <a:pPr marL="0" indent="0">
              <a:buNone/>
            </a:pPr>
            <a:r>
              <a:rPr lang="en-US" sz="1200" dirty="0">
                <a:solidFill>
                  <a:srgbClr val="8896A6"/>
                </a:solidFill>
                <a:latin typeface="Consolas" pitchFamily="34" charset="0"/>
                <a:ea typeface="Consolas" pitchFamily="34" charset="-122"/>
                <a:cs typeface="Consolas" pitchFamily="34" charset="-120"/>
              </a:rPr>
              <a:t># Output: Welcome to Cloud v3!</a:t>
            </a:r>
            <a:endParaRPr lang="en-US" sz="1200" dirty="0"/>
          </a:p>
        </p:txBody>
      </p:sp>
      <p:sp>
        <p:nvSpPr>
          <p:cNvPr id="17" name="Shape 15"/>
          <p:cNvSpPr/>
          <p:nvPr/>
        </p:nvSpPr>
        <p:spPr>
          <a:xfrm>
            <a:off x="457200" y="4709160"/>
            <a:ext cx="8229600" cy="320040"/>
          </a:xfrm>
          <a:prstGeom prst="rect">
            <a:avLst/>
          </a:prstGeom>
          <a:solidFill>
            <a:srgbClr val="1B2A4A">
              <a:alpha val="8000"/>
            </a:srgbClr>
          </a:solidFill>
          <a:ln/>
        </p:spPr>
        <p:txBody>
          <a:bodyPr/>
          <a:lstStyle/>
          <a:p>
            <a:endParaRPr lang="en-IN"/>
          </a:p>
        </p:txBody>
      </p:sp>
      <p:sp>
        <p:nvSpPr>
          <p:cNvPr id="18" name="Text 16"/>
          <p:cNvSpPr/>
          <p:nvPr/>
        </p:nvSpPr>
        <p:spPr>
          <a:xfrm>
            <a:off x="640080" y="4709160"/>
            <a:ext cx="7772400" cy="320040"/>
          </a:xfrm>
          <a:prstGeom prst="rect">
            <a:avLst/>
          </a:prstGeom>
          <a:noFill/>
          <a:ln/>
        </p:spPr>
        <p:txBody>
          <a:bodyPr wrap="square" lIns="0" tIns="0" rIns="0" bIns="0" rtlCol="0" anchor="ctr"/>
          <a:lstStyle/>
          <a:p>
            <a:pPr marL="0" indent="0">
              <a:buNone/>
            </a:pPr>
            <a:r>
              <a:rPr lang="en-US" sz="1200" dirty="0">
                <a:solidFill>
                  <a:srgbClr val="000000"/>
                </a:solidFill>
              </a:rPr>
              <a:t>💡 </a:t>
            </a:r>
            <a:r>
              <a:rPr lang="en-US" sz="1200" i="1" dirty="0">
                <a:solidFill>
                  <a:srgbClr val="1B2A4A"/>
                </a:solidFill>
                <a:latin typeface="Calibri" pitchFamily="34" charset="0"/>
                <a:ea typeface="Calibri" pitchFamily="34" charset="-122"/>
                <a:cs typeface="Calibri" pitchFamily="34" charset="-120"/>
              </a:rPr>
              <a:t>f-strings are the most common pattern — you'll see them in almost every Python script.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p:spPr>
        <p:txBody>
          <a:bodyPr/>
          <a:lstStyle/>
          <a:p>
            <a:endParaRPr lang="en-IN"/>
          </a:p>
        </p:txBody>
      </p:sp>
      <p:sp>
        <p:nvSpPr>
          <p:cNvPr id="3" name="Text 1"/>
          <p:cNvSpPr/>
          <p:nvPr/>
        </p:nvSpPr>
        <p:spPr>
          <a:xfrm>
            <a:off x="548640" y="13716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Lists &amp; Dictionaries</a:t>
            </a:r>
            <a:endParaRPr lang="en-US" sz="3200" dirty="0"/>
          </a:p>
        </p:txBody>
      </p:sp>
      <p:sp>
        <p:nvSpPr>
          <p:cNvPr id="4" name="Shape 2"/>
          <p:cNvSpPr/>
          <p:nvPr/>
        </p:nvSpPr>
        <p:spPr>
          <a:xfrm>
            <a:off x="457200" y="1188720"/>
            <a:ext cx="3931920" cy="3474720"/>
          </a:xfrm>
          <a:prstGeom prst="rect">
            <a:avLst/>
          </a:prstGeom>
          <a:solidFill>
            <a:srgbClr val="2C3E50"/>
          </a:solidFill>
          <a:ln/>
          <a:effectLst>
            <a:outerShdw blurRad="50800" dist="25400" dir="8100000" algn="bl" rotWithShape="0">
              <a:srgbClr val="000000">
                <a:alpha val="10000"/>
              </a:srgbClr>
            </a:outerShdw>
          </a:effectLst>
        </p:spPr>
        <p:txBody>
          <a:bodyPr/>
          <a:lstStyle/>
          <a:p>
            <a:endParaRPr lang="en-IN"/>
          </a:p>
        </p:txBody>
      </p:sp>
      <p:sp>
        <p:nvSpPr>
          <p:cNvPr id="5" name="Text 3"/>
          <p:cNvSpPr/>
          <p:nvPr/>
        </p:nvSpPr>
        <p:spPr>
          <a:xfrm>
            <a:off x="640080" y="1280160"/>
            <a:ext cx="2743200" cy="320040"/>
          </a:xfrm>
          <a:prstGeom prst="rect">
            <a:avLst/>
          </a:prstGeom>
          <a:noFill/>
          <a:ln/>
        </p:spPr>
        <p:txBody>
          <a:bodyPr wrap="square" lIns="0" tIns="0" rIns="0" bIns="0" rtlCol="0" anchor="ctr"/>
          <a:lstStyle/>
          <a:p>
            <a:pPr marL="0" indent="0">
              <a:buNone/>
            </a:pPr>
            <a:r>
              <a:rPr lang="en-US" sz="1300" dirty="0">
                <a:solidFill>
                  <a:srgbClr val="F0C040"/>
                </a:solidFill>
                <a:latin typeface="Consolas" pitchFamily="34" charset="0"/>
                <a:ea typeface="Consolas" pitchFamily="34" charset="-122"/>
                <a:cs typeface="Consolas" pitchFamily="34" charset="-120"/>
              </a:rPr>
              <a:t>Lists [ ]</a:t>
            </a:r>
            <a:endParaRPr lang="en-US" sz="1300" dirty="0"/>
          </a:p>
        </p:txBody>
      </p:sp>
      <p:sp>
        <p:nvSpPr>
          <p:cNvPr id="6" name="Text 4"/>
          <p:cNvSpPr/>
          <p:nvPr/>
        </p:nvSpPr>
        <p:spPr>
          <a:xfrm>
            <a:off x="640080" y="1691640"/>
            <a:ext cx="3566160" cy="237744"/>
          </a:xfrm>
          <a:prstGeom prst="rect">
            <a:avLst/>
          </a:prstGeom>
          <a:noFill/>
          <a:ln/>
        </p:spPr>
        <p:txBody>
          <a:bodyPr wrap="square" lIns="0" tIns="0" rIns="0" bIns="0" rtlCol="0" anchor="ctr"/>
          <a:lstStyle/>
          <a:p>
            <a:pPr marL="0" indent="0">
              <a:buNone/>
            </a:pPr>
            <a:r>
              <a:rPr lang="en-US" sz="1100" dirty="0">
                <a:solidFill>
                  <a:srgbClr val="8896A6"/>
                </a:solidFill>
                <a:latin typeface="Consolas" pitchFamily="34" charset="0"/>
                <a:ea typeface="Consolas" pitchFamily="34" charset="-122"/>
                <a:cs typeface="Consolas" pitchFamily="34" charset="-120"/>
              </a:rPr>
              <a:t># Ordered, mutable collection</a:t>
            </a:r>
            <a:endParaRPr lang="en-US" sz="1100" dirty="0"/>
          </a:p>
        </p:txBody>
      </p:sp>
      <p:sp>
        <p:nvSpPr>
          <p:cNvPr id="7" name="Text 5"/>
          <p:cNvSpPr/>
          <p:nvPr/>
        </p:nvSpPr>
        <p:spPr>
          <a:xfrm>
            <a:off x="640080" y="1947672"/>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fruits = ["apple", "banana", "cherry"]</a:t>
            </a:r>
            <a:endParaRPr lang="en-US" sz="1100" dirty="0"/>
          </a:p>
        </p:txBody>
      </p:sp>
      <p:sp>
        <p:nvSpPr>
          <p:cNvPr id="8" name="Text 6"/>
          <p:cNvSpPr/>
          <p:nvPr/>
        </p:nvSpPr>
        <p:spPr>
          <a:xfrm>
            <a:off x="640080" y="2203704"/>
            <a:ext cx="3566160" cy="237744"/>
          </a:xfrm>
          <a:prstGeom prst="rect">
            <a:avLst/>
          </a:prstGeom>
          <a:noFill/>
          <a:ln/>
        </p:spPr>
        <p:txBody>
          <a:bodyPr wrap="square" lIns="0" tIns="0" rIns="0" bIns="0" rtlCol="0" anchor="ctr"/>
          <a:lstStyle/>
          <a:p>
            <a:pPr marL="0" indent="0">
              <a:buNone/>
            </a:pPr>
            <a:endParaRPr lang="en-US" sz="1100" dirty="0"/>
          </a:p>
        </p:txBody>
      </p:sp>
      <p:sp>
        <p:nvSpPr>
          <p:cNvPr id="9" name="Text 7"/>
          <p:cNvSpPr/>
          <p:nvPr/>
        </p:nvSpPr>
        <p:spPr>
          <a:xfrm>
            <a:off x="640080" y="2459736"/>
            <a:ext cx="3566160" cy="237744"/>
          </a:xfrm>
          <a:prstGeom prst="rect">
            <a:avLst/>
          </a:prstGeom>
          <a:noFill/>
          <a:ln/>
        </p:spPr>
        <p:txBody>
          <a:bodyPr wrap="square" lIns="0" tIns="0" rIns="0" bIns="0" rtlCol="0" anchor="ctr"/>
          <a:lstStyle/>
          <a:p>
            <a:pPr marL="0" indent="0">
              <a:buNone/>
            </a:pPr>
            <a:r>
              <a:rPr lang="en-US" sz="1100" dirty="0">
                <a:solidFill>
                  <a:srgbClr val="8896A6"/>
                </a:solidFill>
                <a:latin typeface="Consolas" pitchFamily="34" charset="0"/>
                <a:ea typeface="Consolas" pitchFamily="34" charset="-122"/>
                <a:cs typeface="Consolas" pitchFamily="34" charset="-120"/>
              </a:rPr>
              <a:t># Access by index (starts at 0)</a:t>
            </a:r>
            <a:endParaRPr lang="en-US" sz="1100" dirty="0"/>
          </a:p>
        </p:txBody>
      </p:sp>
      <p:sp>
        <p:nvSpPr>
          <p:cNvPr id="10" name="Text 8"/>
          <p:cNvSpPr/>
          <p:nvPr/>
        </p:nvSpPr>
        <p:spPr>
          <a:xfrm>
            <a:off x="640080" y="2715768"/>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print(fruits[0])    # apple</a:t>
            </a:r>
            <a:endParaRPr lang="en-US" sz="1100" dirty="0"/>
          </a:p>
        </p:txBody>
      </p:sp>
      <p:sp>
        <p:nvSpPr>
          <p:cNvPr id="11" name="Text 9"/>
          <p:cNvSpPr/>
          <p:nvPr/>
        </p:nvSpPr>
        <p:spPr>
          <a:xfrm>
            <a:off x="640080" y="2971800"/>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print(fruits[-1])   # cherry</a:t>
            </a:r>
            <a:endParaRPr lang="en-US" sz="1100" dirty="0"/>
          </a:p>
        </p:txBody>
      </p:sp>
      <p:sp>
        <p:nvSpPr>
          <p:cNvPr id="12" name="Text 10"/>
          <p:cNvSpPr/>
          <p:nvPr/>
        </p:nvSpPr>
        <p:spPr>
          <a:xfrm>
            <a:off x="640080" y="3227832"/>
            <a:ext cx="3566160" cy="237744"/>
          </a:xfrm>
          <a:prstGeom prst="rect">
            <a:avLst/>
          </a:prstGeom>
          <a:noFill/>
          <a:ln/>
        </p:spPr>
        <p:txBody>
          <a:bodyPr wrap="square" lIns="0" tIns="0" rIns="0" bIns="0" rtlCol="0" anchor="ctr"/>
          <a:lstStyle/>
          <a:p>
            <a:pPr marL="0" indent="0">
              <a:buNone/>
            </a:pPr>
            <a:endParaRPr lang="en-US" sz="1100" dirty="0"/>
          </a:p>
        </p:txBody>
      </p:sp>
      <p:sp>
        <p:nvSpPr>
          <p:cNvPr id="13" name="Text 11"/>
          <p:cNvSpPr/>
          <p:nvPr/>
        </p:nvSpPr>
        <p:spPr>
          <a:xfrm>
            <a:off x="640080" y="3483864"/>
            <a:ext cx="3566160" cy="237744"/>
          </a:xfrm>
          <a:prstGeom prst="rect">
            <a:avLst/>
          </a:prstGeom>
          <a:noFill/>
          <a:ln/>
        </p:spPr>
        <p:txBody>
          <a:bodyPr wrap="square" lIns="0" tIns="0" rIns="0" bIns="0" rtlCol="0" anchor="ctr"/>
          <a:lstStyle/>
          <a:p>
            <a:pPr marL="0" indent="0">
              <a:buNone/>
            </a:pPr>
            <a:r>
              <a:rPr lang="en-US" sz="1100" dirty="0">
                <a:solidFill>
                  <a:srgbClr val="8896A6"/>
                </a:solidFill>
                <a:latin typeface="Consolas" pitchFamily="34" charset="0"/>
                <a:ea typeface="Consolas" pitchFamily="34" charset="-122"/>
                <a:cs typeface="Consolas" pitchFamily="34" charset="-120"/>
              </a:rPr>
              <a:t># Add &amp; remove</a:t>
            </a:r>
            <a:endParaRPr lang="en-US" sz="1100" dirty="0"/>
          </a:p>
        </p:txBody>
      </p:sp>
      <p:sp>
        <p:nvSpPr>
          <p:cNvPr id="14" name="Text 12"/>
          <p:cNvSpPr/>
          <p:nvPr/>
        </p:nvSpPr>
        <p:spPr>
          <a:xfrm>
            <a:off x="640080" y="3739896"/>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fruits.append("mango")</a:t>
            </a:r>
            <a:endParaRPr lang="en-US" sz="1100" dirty="0"/>
          </a:p>
        </p:txBody>
      </p:sp>
      <p:sp>
        <p:nvSpPr>
          <p:cNvPr id="15" name="Text 13"/>
          <p:cNvSpPr/>
          <p:nvPr/>
        </p:nvSpPr>
        <p:spPr>
          <a:xfrm>
            <a:off x="640080" y="3995928"/>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fruits.remove("banana")</a:t>
            </a:r>
            <a:endParaRPr lang="en-US" sz="1100" dirty="0"/>
          </a:p>
        </p:txBody>
      </p:sp>
      <p:sp>
        <p:nvSpPr>
          <p:cNvPr id="16" name="Text 14"/>
          <p:cNvSpPr/>
          <p:nvPr/>
        </p:nvSpPr>
        <p:spPr>
          <a:xfrm>
            <a:off x="640080" y="4251960"/>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print(len(fruits))  # 3</a:t>
            </a:r>
            <a:endParaRPr lang="en-US" sz="1100" dirty="0"/>
          </a:p>
        </p:txBody>
      </p:sp>
      <p:sp>
        <p:nvSpPr>
          <p:cNvPr id="17" name="Shape 15"/>
          <p:cNvSpPr/>
          <p:nvPr/>
        </p:nvSpPr>
        <p:spPr>
          <a:xfrm>
            <a:off x="4754880" y="1188720"/>
            <a:ext cx="3931920" cy="3474720"/>
          </a:xfrm>
          <a:prstGeom prst="rect">
            <a:avLst/>
          </a:prstGeom>
          <a:solidFill>
            <a:srgbClr val="2C3E50"/>
          </a:solidFill>
          <a:ln/>
          <a:effectLst>
            <a:outerShdw blurRad="50800" dist="25400" dir="8100000" algn="bl" rotWithShape="0">
              <a:srgbClr val="000000">
                <a:alpha val="10000"/>
              </a:srgbClr>
            </a:outerShdw>
          </a:effectLst>
        </p:spPr>
        <p:txBody>
          <a:bodyPr/>
          <a:lstStyle/>
          <a:p>
            <a:endParaRPr lang="en-IN"/>
          </a:p>
        </p:txBody>
      </p:sp>
      <p:sp>
        <p:nvSpPr>
          <p:cNvPr id="18" name="Text 16"/>
          <p:cNvSpPr/>
          <p:nvPr/>
        </p:nvSpPr>
        <p:spPr>
          <a:xfrm>
            <a:off x="4937760" y="1280160"/>
            <a:ext cx="2743200" cy="320040"/>
          </a:xfrm>
          <a:prstGeom prst="rect">
            <a:avLst/>
          </a:prstGeom>
          <a:noFill/>
          <a:ln/>
        </p:spPr>
        <p:txBody>
          <a:bodyPr wrap="square" lIns="0" tIns="0" rIns="0" bIns="0" rtlCol="0" anchor="ctr"/>
          <a:lstStyle/>
          <a:p>
            <a:pPr marL="0" indent="0">
              <a:buNone/>
            </a:pPr>
            <a:r>
              <a:rPr lang="en-US" sz="1300" dirty="0">
                <a:solidFill>
                  <a:srgbClr val="F0C040"/>
                </a:solidFill>
                <a:latin typeface="Consolas" pitchFamily="34" charset="0"/>
                <a:ea typeface="Consolas" pitchFamily="34" charset="-122"/>
                <a:cs typeface="Consolas" pitchFamily="34" charset="-120"/>
              </a:rPr>
              <a:t>Dictionaries { }</a:t>
            </a:r>
            <a:endParaRPr lang="en-US" sz="1300" dirty="0"/>
          </a:p>
        </p:txBody>
      </p:sp>
      <p:sp>
        <p:nvSpPr>
          <p:cNvPr id="19" name="Text 17"/>
          <p:cNvSpPr/>
          <p:nvPr/>
        </p:nvSpPr>
        <p:spPr>
          <a:xfrm>
            <a:off x="4937760" y="1691640"/>
            <a:ext cx="3566160" cy="237744"/>
          </a:xfrm>
          <a:prstGeom prst="rect">
            <a:avLst/>
          </a:prstGeom>
          <a:noFill/>
          <a:ln/>
        </p:spPr>
        <p:txBody>
          <a:bodyPr wrap="square" lIns="0" tIns="0" rIns="0" bIns="0" rtlCol="0" anchor="ctr"/>
          <a:lstStyle/>
          <a:p>
            <a:pPr marL="0" indent="0">
              <a:buNone/>
            </a:pPr>
            <a:r>
              <a:rPr lang="en-US" sz="1100" dirty="0">
                <a:solidFill>
                  <a:srgbClr val="8896A6"/>
                </a:solidFill>
                <a:latin typeface="Consolas" pitchFamily="34" charset="0"/>
                <a:ea typeface="Consolas" pitchFamily="34" charset="-122"/>
                <a:cs typeface="Consolas" pitchFamily="34" charset="-120"/>
              </a:rPr>
              <a:t># Key-value pairs</a:t>
            </a:r>
            <a:endParaRPr lang="en-US" sz="1100" dirty="0"/>
          </a:p>
        </p:txBody>
      </p:sp>
      <p:sp>
        <p:nvSpPr>
          <p:cNvPr id="20" name="Text 18"/>
          <p:cNvSpPr/>
          <p:nvPr/>
        </p:nvSpPr>
        <p:spPr>
          <a:xfrm>
            <a:off x="4937760" y="1947672"/>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person = {</a:t>
            </a:r>
            <a:endParaRPr lang="en-US" sz="1100" dirty="0"/>
          </a:p>
        </p:txBody>
      </p:sp>
      <p:sp>
        <p:nvSpPr>
          <p:cNvPr id="21" name="Text 19"/>
          <p:cNvSpPr/>
          <p:nvPr/>
        </p:nvSpPr>
        <p:spPr>
          <a:xfrm>
            <a:off x="4937760" y="2203704"/>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    "name": "Alice",</a:t>
            </a:r>
            <a:endParaRPr lang="en-US" sz="1100" dirty="0"/>
          </a:p>
        </p:txBody>
      </p:sp>
      <p:sp>
        <p:nvSpPr>
          <p:cNvPr id="22" name="Text 20"/>
          <p:cNvSpPr/>
          <p:nvPr/>
        </p:nvSpPr>
        <p:spPr>
          <a:xfrm>
            <a:off x="4937760" y="2459736"/>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    "age": 30,</a:t>
            </a:r>
            <a:endParaRPr lang="en-US" sz="1100" dirty="0"/>
          </a:p>
        </p:txBody>
      </p:sp>
      <p:sp>
        <p:nvSpPr>
          <p:cNvPr id="23" name="Text 21"/>
          <p:cNvSpPr/>
          <p:nvPr/>
        </p:nvSpPr>
        <p:spPr>
          <a:xfrm>
            <a:off x="4937760" y="2715768"/>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    "city": "Mumbai"</a:t>
            </a:r>
            <a:endParaRPr lang="en-US" sz="1100" dirty="0"/>
          </a:p>
        </p:txBody>
      </p:sp>
      <p:sp>
        <p:nvSpPr>
          <p:cNvPr id="24" name="Text 22"/>
          <p:cNvSpPr/>
          <p:nvPr/>
        </p:nvSpPr>
        <p:spPr>
          <a:xfrm>
            <a:off x="4937760" y="2971800"/>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a:t>
            </a:r>
            <a:endParaRPr lang="en-US" sz="1100" dirty="0"/>
          </a:p>
        </p:txBody>
      </p:sp>
      <p:sp>
        <p:nvSpPr>
          <p:cNvPr id="25" name="Text 23"/>
          <p:cNvSpPr/>
          <p:nvPr/>
        </p:nvSpPr>
        <p:spPr>
          <a:xfrm>
            <a:off x="4937760" y="3227832"/>
            <a:ext cx="3566160" cy="237744"/>
          </a:xfrm>
          <a:prstGeom prst="rect">
            <a:avLst/>
          </a:prstGeom>
          <a:noFill/>
          <a:ln/>
        </p:spPr>
        <p:txBody>
          <a:bodyPr wrap="square" lIns="0" tIns="0" rIns="0" bIns="0" rtlCol="0" anchor="ctr"/>
          <a:lstStyle/>
          <a:p>
            <a:pPr marL="0" indent="0">
              <a:buNone/>
            </a:pPr>
            <a:endParaRPr lang="en-US" sz="1100" dirty="0"/>
          </a:p>
        </p:txBody>
      </p:sp>
      <p:sp>
        <p:nvSpPr>
          <p:cNvPr id="26" name="Text 24"/>
          <p:cNvSpPr/>
          <p:nvPr/>
        </p:nvSpPr>
        <p:spPr>
          <a:xfrm>
            <a:off x="4937760" y="3483864"/>
            <a:ext cx="3566160" cy="237744"/>
          </a:xfrm>
          <a:prstGeom prst="rect">
            <a:avLst/>
          </a:prstGeom>
          <a:noFill/>
          <a:ln/>
        </p:spPr>
        <p:txBody>
          <a:bodyPr wrap="square" lIns="0" tIns="0" rIns="0" bIns="0" rtlCol="0" anchor="ctr"/>
          <a:lstStyle/>
          <a:p>
            <a:pPr marL="0" indent="0">
              <a:buNone/>
            </a:pPr>
            <a:r>
              <a:rPr lang="en-US" sz="1100" dirty="0">
                <a:solidFill>
                  <a:srgbClr val="8896A6"/>
                </a:solidFill>
                <a:latin typeface="Consolas" pitchFamily="34" charset="0"/>
                <a:ea typeface="Consolas" pitchFamily="34" charset="-122"/>
                <a:cs typeface="Consolas" pitchFamily="34" charset="-120"/>
              </a:rPr>
              <a:t># Access values</a:t>
            </a:r>
            <a:endParaRPr lang="en-US" sz="1100" dirty="0"/>
          </a:p>
        </p:txBody>
      </p:sp>
      <p:sp>
        <p:nvSpPr>
          <p:cNvPr id="27" name="Text 25"/>
          <p:cNvSpPr/>
          <p:nvPr/>
        </p:nvSpPr>
        <p:spPr>
          <a:xfrm>
            <a:off x="4937760" y="3739896"/>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print(person["name"])    # Alice</a:t>
            </a:r>
            <a:endParaRPr lang="en-US" sz="1100" dirty="0"/>
          </a:p>
        </p:txBody>
      </p:sp>
      <p:sp>
        <p:nvSpPr>
          <p:cNvPr id="28" name="Text 26"/>
          <p:cNvSpPr/>
          <p:nvPr/>
        </p:nvSpPr>
        <p:spPr>
          <a:xfrm>
            <a:off x="4937760" y="3995928"/>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print(person.get("age")) # 30</a:t>
            </a:r>
            <a:endParaRPr lang="en-US" sz="1100" dirty="0"/>
          </a:p>
        </p:txBody>
      </p:sp>
      <p:sp>
        <p:nvSpPr>
          <p:cNvPr id="29" name="Text 27"/>
          <p:cNvSpPr/>
          <p:nvPr/>
        </p:nvSpPr>
        <p:spPr>
          <a:xfrm>
            <a:off x="4937760" y="4251960"/>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person["email"] = "a@b.com"</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p:spPr>
        <p:txBody>
          <a:bodyPr/>
          <a:lstStyle/>
          <a:p>
            <a:endParaRPr lang="en-IN"/>
          </a:p>
        </p:txBody>
      </p:sp>
      <p:sp>
        <p:nvSpPr>
          <p:cNvPr id="3" name="Text 1"/>
          <p:cNvSpPr/>
          <p:nvPr/>
        </p:nvSpPr>
        <p:spPr>
          <a:xfrm>
            <a:off x="548640" y="13716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Control Flow</a:t>
            </a:r>
            <a:endParaRPr lang="en-US" sz="3200" dirty="0"/>
          </a:p>
        </p:txBody>
      </p:sp>
      <p:sp>
        <p:nvSpPr>
          <p:cNvPr id="4" name="Shape 2"/>
          <p:cNvSpPr/>
          <p:nvPr/>
        </p:nvSpPr>
        <p:spPr>
          <a:xfrm>
            <a:off x="457200" y="1188720"/>
            <a:ext cx="3931920" cy="3291840"/>
          </a:xfrm>
          <a:prstGeom prst="rect">
            <a:avLst/>
          </a:prstGeom>
          <a:solidFill>
            <a:srgbClr val="2C3E50"/>
          </a:solidFill>
          <a:ln/>
          <a:effectLst>
            <a:outerShdw blurRad="50800" dist="25400" dir="8100000" algn="bl" rotWithShape="0">
              <a:srgbClr val="000000">
                <a:alpha val="10000"/>
              </a:srgbClr>
            </a:outerShdw>
          </a:effectLst>
        </p:spPr>
        <p:txBody>
          <a:bodyPr/>
          <a:lstStyle/>
          <a:p>
            <a:endParaRPr lang="en-IN"/>
          </a:p>
        </p:txBody>
      </p:sp>
      <p:sp>
        <p:nvSpPr>
          <p:cNvPr id="5" name="Text 3"/>
          <p:cNvSpPr/>
          <p:nvPr/>
        </p:nvSpPr>
        <p:spPr>
          <a:xfrm>
            <a:off x="640080" y="1280160"/>
            <a:ext cx="2743200" cy="320040"/>
          </a:xfrm>
          <a:prstGeom prst="rect">
            <a:avLst/>
          </a:prstGeom>
          <a:noFill/>
          <a:ln/>
        </p:spPr>
        <p:txBody>
          <a:bodyPr wrap="square" lIns="0" tIns="0" rIns="0" bIns="0" rtlCol="0" anchor="ctr"/>
          <a:lstStyle/>
          <a:p>
            <a:pPr marL="0" indent="0">
              <a:buNone/>
            </a:pPr>
            <a:r>
              <a:rPr lang="en-US" sz="1300" dirty="0">
                <a:solidFill>
                  <a:srgbClr val="F0C040"/>
                </a:solidFill>
                <a:latin typeface="Consolas" pitchFamily="34" charset="0"/>
                <a:ea typeface="Consolas" pitchFamily="34" charset="-122"/>
                <a:cs typeface="Consolas" pitchFamily="34" charset="-120"/>
              </a:rPr>
              <a:t>Conditionals</a:t>
            </a:r>
            <a:endParaRPr lang="en-US" sz="1300" dirty="0"/>
          </a:p>
        </p:txBody>
      </p:sp>
      <p:sp>
        <p:nvSpPr>
          <p:cNvPr id="6" name="Text 4"/>
          <p:cNvSpPr/>
          <p:nvPr/>
        </p:nvSpPr>
        <p:spPr>
          <a:xfrm>
            <a:off x="640080" y="1691640"/>
            <a:ext cx="356616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score = 85</a:t>
            </a:r>
            <a:endParaRPr lang="en-US" sz="1200" dirty="0"/>
          </a:p>
        </p:txBody>
      </p:sp>
      <p:sp>
        <p:nvSpPr>
          <p:cNvPr id="7" name="Text 5"/>
          <p:cNvSpPr/>
          <p:nvPr/>
        </p:nvSpPr>
        <p:spPr>
          <a:xfrm>
            <a:off x="640080" y="1965960"/>
            <a:ext cx="3566160" cy="256032"/>
          </a:xfrm>
          <a:prstGeom prst="rect">
            <a:avLst/>
          </a:prstGeom>
          <a:noFill/>
          <a:ln/>
        </p:spPr>
        <p:txBody>
          <a:bodyPr wrap="square" lIns="0" tIns="0" rIns="0" bIns="0" rtlCol="0" anchor="ctr"/>
          <a:lstStyle/>
          <a:p>
            <a:pPr marL="0" indent="0">
              <a:buNone/>
            </a:pPr>
            <a:endParaRPr lang="en-US" sz="1200" dirty="0"/>
          </a:p>
        </p:txBody>
      </p:sp>
      <p:sp>
        <p:nvSpPr>
          <p:cNvPr id="8" name="Text 6"/>
          <p:cNvSpPr/>
          <p:nvPr/>
        </p:nvSpPr>
        <p:spPr>
          <a:xfrm>
            <a:off x="640080" y="2240280"/>
            <a:ext cx="356616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if score &gt;= 90:</a:t>
            </a:r>
            <a:endParaRPr lang="en-US" sz="1200" dirty="0"/>
          </a:p>
        </p:txBody>
      </p:sp>
      <p:sp>
        <p:nvSpPr>
          <p:cNvPr id="9" name="Text 7"/>
          <p:cNvSpPr/>
          <p:nvPr/>
        </p:nvSpPr>
        <p:spPr>
          <a:xfrm>
            <a:off x="640080" y="2514600"/>
            <a:ext cx="356616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grade = "A"</a:t>
            </a:r>
            <a:endParaRPr lang="en-US" sz="1200" dirty="0"/>
          </a:p>
        </p:txBody>
      </p:sp>
      <p:sp>
        <p:nvSpPr>
          <p:cNvPr id="10" name="Text 8"/>
          <p:cNvSpPr/>
          <p:nvPr/>
        </p:nvSpPr>
        <p:spPr>
          <a:xfrm>
            <a:off x="640080" y="2788920"/>
            <a:ext cx="356616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elif score &gt;= 80:</a:t>
            </a:r>
            <a:endParaRPr lang="en-US" sz="1200" dirty="0"/>
          </a:p>
        </p:txBody>
      </p:sp>
      <p:sp>
        <p:nvSpPr>
          <p:cNvPr id="11" name="Text 9"/>
          <p:cNvSpPr/>
          <p:nvPr/>
        </p:nvSpPr>
        <p:spPr>
          <a:xfrm>
            <a:off x="640080" y="3063240"/>
            <a:ext cx="356616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grade = "B"</a:t>
            </a:r>
            <a:endParaRPr lang="en-US" sz="1200" dirty="0"/>
          </a:p>
        </p:txBody>
      </p:sp>
      <p:sp>
        <p:nvSpPr>
          <p:cNvPr id="12" name="Text 10"/>
          <p:cNvSpPr/>
          <p:nvPr/>
        </p:nvSpPr>
        <p:spPr>
          <a:xfrm>
            <a:off x="640080" y="3337560"/>
            <a:ext cx="356616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else:</a:t>
            </a:r>
            <a:endParaRPr lang="en-US" sz="1200" dirty="0"/>
          </a:p>
        </p:txBody>
      </p:sp>
      <p:sp>
        <p:nvSpPr>
          <p:cNvPr id="13" name="Text 11"/>
          <p:cNvSpPr/>
          <p:nvPr/>
        </p:nvSpPr>
        <p:spPr>
          <a:xfrm>
            <a:off x="640080" y="3611880"/>
            <a:ext cx="356616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grade = "C"</a:t>
            </a:r>
            <a:endParaRPr lang="en-US" sz="1200" dirty="0"/>
          </a:p>
        </p:txBody>
      </p:sp>
      <p:sp>
        <p:nvSpPr>
          <p:cNvPr id="14" name="Text 12"/>
          <p:cNvSpPr/>
          <p:nvPr/>
        </p:nvSpPr>
        <p:spPr>
          <a:xfrm>
            <a:off x="640080" y="3886200"/>
            <a:ext cx="3566160" cy="256032"/>
          </a:xfrm>
          <a:prstGeom prst="rect">
            <a:avLst/>
          </a:prstGeom>
          <a:noFill/>
          <a:ln/>
        </p:spPr>
        <p:txBody>
          <a:bodyPr wrap="square" lIns="0" tIns="0" rIns="0" bIns="0" rtlCol="0" anchor="ctr"/>
          <a:lstStyle/>
          <a:p>
            <a:pPr marL="0" indent="0">
              <a:buNone/>
            </a:pPr>
            <a:endParaRPr lang="en-US" sz="1200" dirty="0"/>
          </a:p>
        </p:txBody>
      </p:sp>
      <p:sp>
        <p:nvSpPr>
          <p:cNvPr id="15" name="Text 13"/>
          <p:cNvSpPr/>
          <p:nvPr/>
        </p:nvSpPr>
        <p:spPr>
          <a:xfrm>
            <a:off x="640080" y="4160520"/>
            <a:ext cx="356616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print(f"Grade: {grade}")  # Grade: B</a:t>
            </a:r>
            <a:endParaRPr lang="en-US" sz="1200" dirty="0"/>
          </a:p>
        </p:txBody>
      </p:sp>
      <p:sp>
        <p:nvSpPr>
          <p:cNvPr id="16" name="Shape 14"/>
          <p:cNvSpPr/>
          <p:nvPr/>
        </p:nvSpPr>
        <p:spPr>
          <a:xfrm>
            <a:off x="4754880" y="1188720"/>
            <a:ext cx="3931920" cy="3291840"/>
          </a:xfrm>
          <a:prstGeom prst="rect">
            <a:avLst/>
          </a:prstGeom>
          <a:solidFill>
            <a:srgbClr val="2C3E50"/>
          </a:solidFill>
          <a:ln/>
          <a:effectLst>
            <a:outerShdw blurRad="50800" dist="25400" dir="8100000" algn="bl" rotWithShape="0">
              <a:srgbClr val="000000">
                <a:alpha val="10000"/>
              </a:srgbClr>
            </a:outerShdw>
          </a:effectLst>
        </p:spPr>
        <p:txBody>
          <a:bodyPr/>
          <a:lstStyle/>
          <a:p>
            <a:endParaRPr lang="en-IN"/>
          </a:p>
        </p:txBody>
      </p:sp>
      <p:sp>
        <p:nvSpPr>
          <p:cNvPr id="17" name="Text 15"/>
          <p:cNvSpPr/>
          <p:nvPr/>
        </p:nvSpPr>
        <p:spPr>
          <a:xfrm>
            <a:off x="4937760" y="1280160"/>
            <a:ext cx="2743200" cy="320040"/>
          </a:xfrm>
          <a:prstGeom prst="rect">
            <a:avLst/>
          </a:prstGeom>
          <a:noFill/>
          <a:ln/>
        </p:spPr>
        <p:txBody>
          <a:bodyPr wrap="square" lIns="0" tIns="0" rIns="0" bIns="0" rtlCol="0" anchor="ctr"/>
          <a:lstStyle/>
          <a:p>
            <a:pPr marL="0" indent="0">
              <a:buNone/>
            </a:pPr>
            <a:r>
              <a:rPr lang="en-US" sz="1300" dirty="0">
                <a:solidFill>
                  <a:srgbClr val="F0C040"/>
                </a:solidFill>
                <a:latin typeface="Consolas" pitchFamily="34" charset="0"/>
                <a:ea typeface="Consolas" pitchFamily="34" charset="-122"/>
                <a:cs typeface="Consolas" pitchFamily="34" charset="-120"/>
              </a:rPr>
              <a:t>Loops</a:t>
            </a:r>
            <a:endParaRPr lang="en-US" sz="1300" dirty="0"/>
          </a:p>
        </p:txBody>
      </p:sp>
      <p:sp>
        <p:nvSpPr>
          <p:cNvPr id="18" name="Text 16"/>
          <p:cNvSpPr/>
          <p:nvPr/>
        </p:nvSpPr>
        <p:spPr>
          <a:xfrm>
            <a:off x="4937760" y="1691640"/>
            <a:ext cx="3566160" cy="256032"/>
          </a:xfrm>
          <a:prstGeom prst="rect">
            <a:avLst/>
          </a:prstGeom>
          <a:noFill/>
          <a:ln/>
        </p:spPr>
        <p:txBody>
          <a:bodyPr wrap="square" lIns="0" tIns="0" rIns="0" bIns="0" rtlCol="0" anchor="ctr"/>
          <a:lstStyle/>
          <a:p>
            <a:pPr marL="0" indent="0">
              <a:buNone/>
            </a:pPr>
            <a:r>
              <a:rPr lang="en-US" sz="1200" dirty="0">
                <a:solidFill>
                  <a:srgbClr val="8896A6"/>
                </a:solidFill>
                <a:latin typeface="Consolas" pitchFamily="34" charset="0"/>
                <a:ea typeface="Consolas" pitchFamily="34" charset="-122"/>
                <a:cs typeface="Consolas" pitchFamily="34" charset="-120"/>
              </a:rPr>
              <a:t># for loop</a:t>
            </a:r>
            <a:endParaRPr lang="en-US" sz="1200" dirty="0"/>
          </a:p>
        </p:txBody>
      </p:sp>
      <p:sp>
        <p:nvSpPr>
          <p:cNvPr id="19" name="Text 17"/>
          <p:cNvSpPr/>
          <p:nvPr/>
        </p:nvSpPr>
        <p:spPr>
          <a:xfrm>
            <a:off x="4937760" y="1965960"/>
            <a:ext cx="356616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colors = ["red", "green", "blue"]</a:t>
            </a:r>
            <a:endParaRPr lang="en-US" sz="1200" dirty="0"/>
          </a:p>
        </p:txBody>
      </p:sp>
      <p:sp>
        <p:nvSpPr>
          <p:cNvPr id="20" name="Text 18"/>
          <p:cNvSpPr/>
          <p:nvPr/>
        </p:nvSpPr>
        <p:spPr>
          <a:xfrm>
            <a:off x="4937760" y="2240280"/>
            <a:ext cx="356616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for color in colors:</a:t>
            </a:r>
            <a:endParaRPr lang="en-US" sz="1200" dirty="0"/>
          </a:p>
        </p:txBody>
      </p:sp>
      <p:sp>
        <p:nvSpPr>
          <p:cNvPr id="21" name="Text 19"/>
          <p:cNvSpPr/>
          <p:nvPr/>
        </p:nvSpPr>
        <p:spPr>
          <a:xfrm>
            <a:off x="4937760" y="2514600"/>
            <a:ext cx="356616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print(color)</a:t>
            </a:r>
            <a:endParaRPr lang="en-US" sz="1200" dirty="0"/>
          </a:p>
        </p:txBody>
      </p:sp>
      <p:sp>
        <p:nvSpPr>
          <p:cNvPr id="22" name="Text 20"/>
          <p:cNvSpPr/>
          <p:nvPr/>
        </p:nvSpPr>
        <p:spPr>
          <a:xfrm>
            <a:off x="4937760" y="2788920"/>
            <a:ext cx="3566160" cy="256032"/>
          </a:xfrm>
          <a:prstGeom prst="rect">
            <a:avLst/>
          </a:prstGeom>
          <a:noFill/>
          <a:ln/>
        </p:spPr>
        <p:txBody>
          <a:bodyPr wrap="square" lIns="0" tIns="0" rIns="0" bIns="0" rtlCol="0" anchor="ctr"/>
          <a:lstStyle/>
          <a:p>
            <a:pPr marL="0" indent="0">
              <a:buNone/>
            </a:pPr>
            <a:endParaRPr lang="en-US" sz="1200" dirty="0"/>
          </a:p>
        </p:txBody>
      </p:sp>
      <p:sp>
        <p:nvSpPr>
          <p:cNvPr id="23" name="Text 21"/>
          <p:cNvSpPr/>
          <p:nvPr/>
        </p:nvSpPr>
        <p:spPr>
          <a:xfrm>
            <a:off x="4937760" y="3063240"/>
            <a:ext cx="3566160" cy="256032"/>
          </a:xfrm>
          <a:prstGeom prst="rect">
            <a:avLst/>
          </a:prstGeom>
          <a:noFill/>
          <a:ln/>
        </p:spPr>
        <p:txBody>
          <a:bodyPr wrap="square" lIns="0" tIns="0" rIns="0" bIns="0" rtlCol="0" anchor="ctr"/>
          <a:lstStyle/>
          <a:p>
            <a:pPr marL="0" indent="0">
              <a:buNone/>
            </a:pPr>
            <a:r>
              <a:rPr lang="en-US" sz="1200" dirty="0">
                <a:solidFill>
                  <a:srgbClr val="8896A6"/>
                </a:solidFill>
                <a:latin typeface="Consolas" pitchFamily="34" charset="0"/>
                <a:ea typeface="Consolas" pitchFamily="34" charset="-122"/>
                <a:cs typeface="Consolas" pitchFamily="34" charset="-120"/>
              </a:rPr>
              <a:t># while loop</a:t>
            </a:r>
            <a:endParaRPr lang="en-US" sz="1200" dirty="0"/>
          </a:p>
        </p:txBody>
      </p:sp>
      <p:sp>
        <p:nvSpPr>
          <p:cNvPr id="24" name="Text 22"/>
          <p:cNvSpPr/>
          <p:nvPr/>
        </p:nvSpPr>
        <p:spPr>
          <a:xfrm>
            <a:off x="4937760" y="3337560"/>
            <a:ext cx="356616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count = 0</a:t>
            </a:r>
            <a:endParaRPr lang="en-US" sz="1200" dirty="0"/>
          </a:p>
        </p:txBody>
      </p:sp>
      <p:sp>
        <p:nvSpPr>
          <p:cNvPr id="25" name="Text 23"/>
          <p:cNvSpPr/>
          <p:nvPr/>
        </p:nvSpPr>
        <p:spPr>
          <a:xfrm>
            <a:off x="4937760" y="3611880"/>
            <a:ext cx="356616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while count &lt; 3:</a:t>
            </a:r>
            <a:endParaRPr lang="en-US" sz="1200" dirty="0"/>
          </a:p>
        </p:txBody>
      </p:sp>
      <p:sp>
        <p:nvSpPr>
          <p:cNvPr id="26" name="Text 24"/>
          <p:cNvSpPr/>
          <p:nvPr/>
        </p:nvSpPr>
        <p:spPr>
          <a:xfrm>
            <a:off x="4937760" y="3886200"/>
            <a:ext cx="356616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print(f"Count: {count}")</a:t>
            </a:r>
            <a:endParaRPr lang="en-US" sz="1200" dirty="0"/>
          </a:p>
        </p:txBody>
      </p:sp>
      <p:sp>
        <p:nvSpPr>
          <p:cNvPr id="27" name="Text 25"/>
          <p:cNvSpPr/>
          <p:nvPr/>
        </p:nvSpPr>
        <p:spPr>
          <a:xfrm>
            <a:off x="4937760" y="4160520"/>
            <a:ext cx="356616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    count += 1</a:t>
            </a:r>
            <a:endParaRPr lang="en-US" sz="1200" dirty="0"/>
          </a:p>
        </p:txBody>
      </p:sp>
      <p:sp>
        <p:nvSpPr>
          <p:cNvPr id="28" name="Shape 26"/>
          <p:cNvSpPr/>
          <p:nvPr/>
        </p:nvSpPr>
        <p:spPr>
          <a:xfrm>
            <a:off x="457200" y="4663440"/>
            <a:ext cx="8229600" cy="320040"/>
          </a:xfrm>
          <a:prstGeom prst="rect">
            <a:avLst/>
          </a:prstGeom>
          <a:solidFill>
            <a:srgbClr val="1B2A4A">
              <a:alpha val="8000"/>
            </a:srgbClr>
          </a:solidFill>
          <a:ln/>
        </p:spPr>
        <p:txBody>
          <a:bodyPr/>
          <a:lstStyle/>
          <a:p>
            <a:endParaRPr lang="en-IN"/>
          </a:p>
        </p:txBody>
      </p:sp>
      <p:sp>
        <p:nvSpPr>
          <p:cNvPr id="29" name="Text 27"/>
          <p:cNvSpPr/>
          <p:nvPr/>
        </p:nvSpPr>
        <p:spPr>
          <a:xfrm>
            <a:off x="640080" y="4663440"/>
            <a:ext cx="7772400" cy="320040"/>
          </a:xfrm>
          <a:prstGeom prst="rect">
            <a:avLst/>
          </a:prstGeom>
          <a:noFill/>
          <a:ln/>
        </p:spPr>
        <p:txBody>
          <a:bodyPr wrap="square" lIns="0" tIns="0" rIns="0" bIns="0" rtlCol="0" anchor="ctr"/>
          <a:lstStyle/>
          <a:p>
            <a:pPr marL="0" indent="0">
              <a:buNone/>
            </a:pPr>
            <a:r>
              <a:rPr lang="en-US" sz="1200" dirty="0">
                <a:solidFill>
                  <a:srgbClr val="000000"/>
                </a:solidFill>
              </a:rPr>
              <a:t>💡 </a:t>
            </a:r>
            <a:r>
              <a:rPr lang="en-US" sz="1200" i="1" dirty="0">
                <a:solidFill>
                  <a:srgbClr val="1B2A4A"/>
                </a:solidFill>
                <a:latin typeface="Calibri" pitchFamily="34" charset="0"/>
                <a:ea typeface="Calibri" pitchFamily="34" charset="-122"/>
                <a:cs typeface="Calibri" pitchFamily="34" charset="-120"/>
              </a:rPr>
              <a:t>Python uses indentation (4 spaces) instead of curly braces { } to define code blocks.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p:spPr>
        <p:txBody>
          <a:bodyPr/>
          <a:lstStyle/>
          <a:p>
            <a:endParaRPr lang="en-IN"/>
          </a:p>
        </p:txBody>
      </p:sp>
      <p:sp>
        <p:nvSpPr>
          <p:cNvPr id="3" name="Text 1"/>
          <p:cNvSpPr/>
          <p:nvPr/>
        </p:nvSpPr>
        <p:spPr>
          <a:xfrm>
            <a:off x="548640" y="13716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Functions</a:t>
            </a:r>
            <a:endParaRPr lang="en-US" sz="3200" dirty="0"/>
          </a:p>
        </p:txBody>
      </p:sp>
      <p:sp>
        <p:nvSpPr>
          <p:cNvPr id="4" name="Shape 2"/>
          <p:cNvSpPr/>
          <p:nvPr/>
        </p:nvSpPr>
        <p:spPr>
          <a:xfrm>
            <a:off x="457200" y="1188720"/>
            <a:ext cx="5029200" cy="3474720"/>
          </a:xfrm>
          <a:prstGeom prst="rect">
            <a:avLst/>
          </a:prstGeom>
          <a:solidFill>
            <a:srgbClr val="2C3E50"/>
          </a:solidFill>
          <a:ln/>
          <a:effectLst>
            <a:outerShdw blurRad="50800" dist="25400" dir="8100000" algn="bl" rotWithShape="0">
              <a:srgbClr val="000000">
                <a:alpha val="10000"/>
              </a:srgbClr>
            </a:outerShdw>
          </a:effectLst>
        </p:spPr>
        <p:txBody>
          <a:bodyPr/>
          <a:lstStyle/>
          <a:p>
            <a:endParaRPr lang="en-IN"/>
          </a:p>
        </p:txBody>
      </p:sp>
      <p:sp>
        <p:nvSpPr>
          <p:cNvPr id="5" name="Text 3"/>
          <p:cNvSpPr/>
          <p:nvPr/>
        </p:nvSpPr>
        <p:spPr>
          <a:xfrm>
            <a:off x="640080" y="1280160"/>
            <a:ext cx="4572000" cy="320040"/>
          </a:xfrm>
          <a:prstGeom prst="rect">
            <a:avLst/>
          </a:prstGeom>
          <a:noFill/>
          <a:ln/>
        </p:spPr>
        <p:txBody>
          <a:bodyPr wrap="square" lIns="0" tIns="0" rIns="0" bIns="0" rtlCol="0" anchor="ctr"/>
          <a:lstStyle/>
          <a:p>
            <a:pPr marL="0" indent="0">
              <a:buNone/>
            </a:pPr>
            <a:r>
              <a:rPr lang="en-US" sz="1100" dirty="0">
                <a:solidFill>
                  <a:srgbClr val="F0C040"/>
                </a:solidFill>
                <a:latin typeface="Consolas" pitchFamily="34" charset="0"/>
                <a:ea typeface="Consolas" pitchFamily="34" charset="-122"/>
                <a:cs typeface="Consolas" pitchFamily="34" charset="-120"/>
              </a:rPr>
              <a:t>&gt;&gt;&gt; Defining &amp; Calling Functions</a:t>
            </a:r>
            <a:endParaRPr lang="en-US" sz="1100" dirty="0"/>
          </a:p>
        </p:txBody>
      </p:sp>
      <p:sp>
        <p:nvSpPr>
          <p:cNvPr id="6" name="Text 4"/>
          <p:cNvSpPr/>
          <p:nvPr/>
        </p:nvSpPr>
        <p:spPr>
          <a:xfrm>
            <a:off x="640080" y="1691640"/>
            <a:ext cx="4663440" cy="237744"/>
          </a:xfrm>
          <a:prstGeom prst="rect">
            <a:avLst/>
          </a:prstGeom>
          <a:noFill/>
          <a:ln/>
        </p:spPr>
        <p:txBody>
          <a:bodyPr wrap="square" lIns="0" tIns="0" rIns="0" bIns="0" rtlCol="0" anchor="ctr"/>
          <a:lstStyle/>
          <a:p>
            <a:pPr marL="0" indent="0">
              <a:buNone/>
            </a:pPr>
            <a:r>
              <a:rPr lang="en-US" sz="1150" dirty="0">
                <a:solidFill>
                  <a:srgbClr val="8896A6"/>
                </a:solidFill>
                <a:latin typeface="Consolas" pitchFamily="34" charset="0"/>
                <a:ea typeface="Consolas" pitchFamily="34" charset="-122"/>
                <a:cs typeface="Consolas" pitchFamily="34" charset="-120"/>
              </a:rPr>
              <a:t># Define a function</a:t>
            </a:r>
            <a:endParaRPr lang="en-US" sz="1150" dirty="0"/>
          </a:p>
        </p:txBody>
      </p:sp>
      <p:sp>
        <p:nvSpPr>
          <p:cNvPr id="7" name="Text 5"/>
          <p:cNvSpPr/>
          <p:nvPr/>
        </p:nvSpPr>
        <p:spPr>
          <a:xfrm>
            <a:off x="640080" y="1947672"/>
            <a:ext cx="4663440" cy="237744"/>
          </a:xfrm>
          <a:prstGeom prst="rect">
            <a:avLst/>
          </a:prstGeom>
          <a:noFill/>
          <a:ln/>
        </p:spPr>
        <p:txBody>
          <a:bodyPr wrap="square" lIns="0" tIns="0" rIns="0" bIns="0" rtlCol="0" anchor="ctr"/>
          <a:lstStyle/>
          <a:p>
            <a:pPr marL="0" indent="0">
              <a:buNone/>
            </a:pPr>
            <a:r>
              <a:rPr lang="en-US" sz="1150" dirty="0">
                <a:solidFill>
                  <a:srgbClr val="FFFFFF"/>
                </a:solidFill>
                <a:latin typeface="Consolas" pitchFamily="34" charset="0"/>
                <a:ea typeface="Consolas" pitchFamily="34" charset="-122"/>
                <a:cs typeface="Consolas" pitchFamily="34" charset="-120"/>
              </a:rPr>
              <a:t>def greet(name, greeting="Hello"):</a:t>
            </a:r>
            <a:endParaRPr lang="en-US" sz="1150" dirty="0"/>
          </a:p>
        </p:txBody>
      </p:sp>
      <p:sp>
        <p:nvSpPr>
          <p:cNvPr id="8" name="Text 6"/>
          <p:cNvSpPr/>
          <p:nvPr/>
        </p:nvSpPr>
        <p:spPr>
          <a:xfrm>
            <a:off x="640080" y="2203704"/>
            <a:ext cx="4663440" cy="237744"/>
          </a:xfrm>
          <a:prstGeom prst="rect">
            <a:avLst/>
          </a:prstGeom>
          <a:noFill/>
          <a:ln/>
        </p:spPr>
        <p:txBody>
          <a:bodyPr wrap="square" lIns="0" tIns="0" rIns="0" bIns="0" rtlCol="0" anchor="ctr"/>
          <a:lstStyle/>
          <a:p>
            <a:pPr marL="0" indent="0">
              <a:buNone/>
            </a:pPr>
            <a:r>
              <a:rPr lang="en-US" sz="1150" dirty="0">
                <a:solidFill>
                  <a:srgbClr val="8896A6"/>
                </a:solidFill>
                <a:latin typeface="Consolas" pitchFamily="34" charset="0"/>
                <a:ea typeface="Consolas" pitchFamily="34" charset="-122"/>
                <a:cs typeface="Consolas" pitchFamily="34" charset="-120"/>
              </a:rPr>
              <a:t>    """Return a greeting message."""</a:t>
            </a:r>
            <a:endParaRPr lang="en-US" sz="1150" dirty="0"/>
          </a:p>
        </p:txBody>
      </p:sp>
      <p:sp>
        <p:nvSpPr>
          <p:cNvPr id="9" name="Text 7"/>
          <p:cNvSpPr/>
          <p:nvPr/>
        </p:nvSpPr>
        <p:spPr>
          <a:xfrm>
            <a:off x="640080" y="2459736"/>
            <a:ext cx="4663440" cy="237744"/>
          </a:xfrm>
          <a:prstGeom prst="rect">
            <a:avLst/>
          </a:prstGeom>
          <a:noFill/>
          <a:ln/>
        </p:spPr>
        <p:txBody>
          <a:bodyPr wrap="square" lIns="0" tIns="0" rIns="0" bIns="0" rtlCol="0" anchor="ctr"/>
          <a:lstStyle/>
          <a:p>
            <a:pPr marL="0" indent="0">
              <a:buNone/>
            </a:pPr>
            <a:r>
              <a:rPr lang="en-US" sz="1150" dirty="0">
                <a:solidFill>
                  <a:srgbClr val="FFFFFF"/>
                </a:solidFill>
                <a:latin typeface="Consolas" pitchFamily="34" charset="0"/>
                <a:ea typeface="Consolas" pitchFamily="34" charset="-122"/>
                <a:cs typeface="Consolas" pitchFamily="34" charset="-120"/>
              </a:rPr>
              <a:t>    return f"{greeting}, {name}!"</a:t>
            </a:r>
            <a:endParaRPr lang="en-US" sz="1150" dirty="0"/>
          </a:p>
        </p:txBody>
      </p:sp>
      <p:sp>
        <p:nvSpPr>
          <p:cNvPr id="10" name="Text 8"/>
          <p:cNvSpPr/>
          <p:nvPr/>
        </p:nvSpPr>
        <p:spPr>
          <a:xfrm>
            <a:off x="640080" y="2715768"/>
            <a:ext cx="4663440" cy="237744"/>
          </a:xfrm>
          <a:prstGeom prst="rect">
            <a:avLst/>
          </a:prstGeom>
          <a:noFill/>
          <a:ln/>
        </p:spPr>
        <p:txBody>
          <a:bodyPr wrap="square" lIns="0" tIns="0" rIns="0" bIns="0" rtlCol="0" anchor="ctr"/>
          <a:lstStyle/>
          <a:p>
            <a:pPr marL="0" indent="0">
              <a:buNone/>
            </a:pPr>
            <a:endParaRPr lang="en-US" sz="1150" dirty="0"/>
          </a:p>
        </p:txBody>
      </p:sp>
      <p:sp>
        <p:nvSpPr>
          <p:cNvPr id="11" name="Text 9"/>
          <p:cNvSpPr/>
          <p:nvPr/>
        </p:nvSpPr>
        <p:spPr>
          <a:xfrm>
            <a:off x="640080" y="2971800"/>
            <a:ext cx="4663440" cy="237744"/>
          </a:xfrm>
          <a:prstGeom prst="rect">
            <a:avLst/>
          </a:prstGeom>
          <a:noFill/>
          <a:ln/>
        </p:spPr>
        <p:txBody>
          <a:bodyPr wrap="square" lIns="0" tIns="0" rIns="0" bIns="0" rtlCol="0" anchor="ctr"/>
          <a:lstStyle/>
          <a:p>
            <a:pPr marL="0" indent="0">
              <a:buNone/>
            </a:pPr>
            <a:r>
              <a:rPr lang="en-US" sz="1150" dirty="0">
                <a:solidFill>
                  <a:srgbClr val="8896A6"/>
                </a:solidFill>
                <a:latin typeface="Consolas" pitchFamily="34" charset="0"/>
                <a:ea typeface="Consolas" pitchFamily="34" charset="-122"/>
                <a:cs typeface="Consolas" pitchFamily="34" charset="-120"/>
              </a:rPr>
              <a:t># Call the function</a:t>
            </a:r>
            <a:endParaRPr lang="en-US" sz="1150" dirty="0"/>
          </a:p>
        </p:txBody>
      </p:sp>
      <p:sp>
        <p:nvSpPr>
          <p:cNvPr id="12" name="Text 10"/>
          <p:cNvSpPr/>
          <p:nvPr/>
        </p:nvSpPr>
        <p:spPr>
          <a:xfrm>
            <a:off x="640080" y="3227832"/>
            <a:ext cx="4663440" cy="237744"/>
          </a:xfrm>
          <a:prstGeom prst="rect">
            <a:avLst/>
          </a:prstGeom>
          <a:noFill/>
          <a:ln/>
        </p:spPr>
        <p:txBody>
          <a:bodyPr wrap="square" lIns="0" tIns="0" rIns="0" bIns="0" rtlCol="0" anchor="ctr"/>
          <a:lstStyle/>
          <a:p>
            <a:pPr marL="0" indent="0">
              <a:buNone/>
            </a:pPr>
            <a:r>
              <a:rPr lang="en-US" sz="1150" dirty="0">
                <a:solidFill>
                  <a:srgbClr val="FFFFFF"/>
                </a:solidFill>
                <a:latin typeface="Consolas" pitchFamily="34" charset="0"/>
                <a:ea typeface="Consolas" pitchFamily="34" charset="-122"/>
                <a:cs typeface="Consolas" pitchFamily="34" charset="-120"/>
              </a:rPr>
              <a:t>message = greet("Python")</a:t>
            </a:r>
            <a:endParaRPr lang="en-US" sz="1150" dirty="0"/>
          </a:p>
        </p:txBody>
      </p:sp>
      <p:sp>
        <p:nvSpPr>
          <p:cNvPr id="13" name="Text 11"/>
          <p:cNvSpPr/>
          <p:nvPr/>
        </p:nvSpPr>
        <p:spPr>
          <a:xfrm>
            <a:off x="640080" y="3483864"/>
            <a:ext cx="4663440" cy="237744"/>
          </a:xfrm>
          <a:prstGeom prst="rect">
            <a:avLst/>
          </a:prstGeom>
          <a:noFill/>
          <a:ln/>
        </p:spPr>
        <p:txBody>
          <a:bodyPr wrap="square" lIns="0" tIns="0" rIns="0" bIns="0" rtlCol="0" anchor="ctr"/>
          <a:lstStyle/>
          <a:p>
            <a:pPr marL="0" indent="0">
              <a:buNone/>
            </a:pPr>
            <a:r>
              <a:rPr lang="en-US" sz="1150" dirty="0">
                <a:solidFill>
                  <a:srgbClr val="FFFFFF"/>
                </a:solidFill>
                <a:latin typeface="Consolas" pitchFamily="34" charset="0"/>
                <a:ea typeface="Consolas" pitchFamily="34" charset="-122"/>
                <a:cs typeface="Consolas" pitchFamily="34" charset="-120"/>
              </a:rPr>
              <a:t>print(message)  # Hello, Python!</a:t>
            </a:r>
            <a:endParaRPr lang="en-US" sz="1150" dirty="0"/>
          </a:p>
        </p:txBody>
      </p:sp>
      <p:sp>
        <p:nvSpPr>
          <p:cNvPr id="14" name="Text 12"/>
          <p:cNvSpPr/>
          <p:nvPr/>
        </p:nvSpPr>
        <p:spPr>
          <a:xfrm>
            <a:off x="640080" y="3739896"/>
            <a:ext cx="4663440" cy="237744"/>
          </a:xfrm>
          <a:prstGeom prst="rect">
            <a:avLst/>
          </a:prstGeom>
          <a:noFill/>
          <a:ln/>
        </p:spPr>
        <p:txBody>
          <a:bodyPr wrap="square" lIns="0" tIns="0" rIns="0" bIns="0" rtlCol="0" anchor="ctr"/>
          <a:lstStyle/>
          <a:p>
            <a:pPr marL="0" indent="0">
              <a:buNone/>
            </a:pPr>
            <a:endParaRPr lang="en-US" sz="1150" dirty="0"/>
          </a:p>
        </p:txBody>
      </p:sp>
      <p:sp>
        <p:nvSpPr>
          <p:cNvPr id="15" name="Text 13"/>
          <p:cNvSpPr/>
          <p:nvPr/>
        </p:nvSpPr>
        <p:spPr>
          <a:xfrm>
            <a:off x="640080" y="3995928"/>
            <a:ext cx="4663440" cy="237744"/>
          </a:xfrm>
          <a:prstGeom prst="rect">
            <a:avLst/>
          </a:prstGeom>
          <a:noFill/>
          <a:ln/>
        </p:spPr>
        <p:txBody>
          <a:bodyPr wrap="square" lIns="0" tIns="0" rIns="0" bIns="0" rtlCol="0" anchor="ctr"/>
          <a:lstStyle/>
          <a:p>
            <a:pPr marL="0" indent="0">
              <a:buNone/>
            </a:pPr>
            <a:r>
              <a:rPr lang="en-US" sz="1150" dirty="0">
                <a:solidFill>
                  <a:srgbClr val="8896A6"/>
                </a:solidFill>
                <a:latin typeface="Consolas" pitchFamily="34" charset="0"/>
                <a:ea typeface="Consolas" pitchFamily="34" charset="-122"/>
                <a:cs typeface="Consolas" pitchFamily="34" charset="-120"/>
              </a:rPr>
              <a:t># With custom greeting</a:t>
            </a:r>
            <a:endParaRPr lang="en-US" sz="1150" dirty="0"/>
          </a:p>
        </p:txBody>
      </p:sp>
      <p:sp>
        <p:nvSpPr>
          <p:cNvPr id="16" name="Text 14"/>
          <p:cNvSpPr/>
          <p:nvPr/>
        </p:nvSpPr>
        <p:spPr>
          <a:xfrm>
            <a:off x="640080" y="4251960"/>
            <a:ext cx="4663440" cy="237744"/>
          </a:xfrm>
          <a:prstGeom prst="rect">
            <a:avLst/>
          </a:prstGeom>
          <a:noFill/>
          <a:ln/>
        </p:spPr>
        <p:txBody>
          <a:bodyPr wrap="square" lIns="0" tIns="0" rIns="0" bIns="0" rtlCol="0" anchor="ctr"/>
          <a:lstStyle/>
          <a:p>
            <a:pPr marL="0" indent="0">
              <a:buNone/>
            </a:pPr>
            <a:r>
              <a:rPr lang="en-US" sz="1150" dirty="0">
                <a:solidFill>
                  <a:srgbClr val="FFFFFF"/>
                </a:solidFill>
                <a:latin typeface="Consolas" pitchFamily="34" charset="0"/>
                <a:ea typeface="Consolas" pitchFamily="34" charset="-122"/>
                <a:cs typeface="Consolas" pitchFamily="34" charset="-120"/>
              </a:rPr>
              <a:t>print(greet("World", "Hey"))</a:t>
            </a:r>
            <a:endParaRPr lang="en-US" sz="1150" dirty="0"/>
          </a:p>
        </p:txBody>
      </p:sp>
      <p:sp>
        <p:nvSpPr>
          <p:cNvPr id="17" name="Text 15"/>
          <p:cNvSpPr/>
          <p:nvPr/>
        </p:nvSpPr>
        <p:spPr>
          <a:xfrm>
            <a:off x="640080" y="4507992"/>
            <a:ext cx="4663440" cy="237744"/>
          </a:xfrm>
          <a:prstGeom prst="rect">
            <a:avLst/>
          </a:prstGeom>
          <a:noFill/>
          <a:ln/>
        </p:spPr>
        <p:txBody>
          <a:bodyPr wrap="square" lIns="0" tIns="0" rIns="0" bIns="0" rtlCol="0" anchor="ctr"/>
          <a:lstStyle/>
          <a:p>
            <a:pPr marL="0" indent="0">
              <a:buNone/>
            </a:pPr>
            <a:r>
              <a:rPr lang="en-US" sz="1150" dirty="0">
                <a:solidFill>
                  <a:srgbClr val="8896A6"/>
                </a:solidFill>
                <a:latin typeface="Consolas" pitchFamily="34" charset="0"/>
                <a:ea typeface="Consolas" pitchFamily="34" charset="-122"/>
                <a:cs typeface="Consolas" pitchFamily="34" charset="-120"/>
              </a:rPr>
              <a:t># Hey, World!</a:t>
            </a:r>
            <a:endParaRPr lang="en-US" sz="1150" dirty="0"/>
          </a:p>
        </p:txBody>
      </p:sp>
      <p:sp>
        <p:nvSpPr>
          <p:cNvPr id="18" name="Text 16"/>
          <p:cNvSpPr/>
          <p:nvPr/>
        </p:nvSpPr>
        <p:spPr>
          <a:xfrm>
            <a:off x="5760720" y="1188720"/>
            <a:ext cx="2926080" cy="365760"/>
          </a:xfrm>
          <a:prstGeom prst="rect">
            <a:avLst/>
          </a:prstGeom>
          <a:noFill/>
          <a:ln/>
        </p:spPr>
        <p:txBody>
          <a:bodyPr wrap="square" lIns="0" tIns="0" rIns="0" bIns="0" rtlCol="0" anchor="ctr"/>
          <a:lstStyle/>
          <a:p>
            <a:pPr marL="0" indent="0">
              <a:buNone/>
            </a:pPr>
            <a:r>
              <a:rPr lang="en-US" sz="1600" b="1" dirty="0">
                <a:solidFill>
                  <a:srgbClr val="1B2A4A"/>
                </a:solidFill>
                <a:latin typeface="Georgia" pitchFamily="34" charset="0"/>
                <a:ea typeface="Georgia" pitchFamily="34" charset="-122"/>
                <a:cs typeface="Georgia" pitchFamily="34" charset="-120"/>
              </a:rPr>
              <a:t>Key Concepts</a:t>
            </a:r>
            <a:endParaRPr lang="en-US" sz="1600" dirty="0"/>
          </a:p>
        </p:txBody>
      </p:sp>
      <p:sp>
        <p:nvSpPr>
          <p:cNvPr id="19" name="Shape 17"/>
          <p:cNvSpPr/>
          <p:nvPr/>
        </p:nvSpPr>
        <p:spPr>
          <a:xfrm>
            <a:off x="5760720" y="1737360"/>
            <a:ext cx="292608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20" name="Shape 18"/>
          <p:cNvSpPr/>
          <p:nvPr/>
        </p:nvSpPr>
        <p:spPr>
          <a:xfrm>
            <a:off x="5760720" y="1737360"/>
            <a:ext cx="54864" cy="502920"/>
          </a:xfrm>
          <a:prstGeom prst="rect">
            <a:avLst/>
          </a:prstGeom>
          <a:solidFill>
            <a:srgbClr val="FFD43B"/>
          </a:solidFill>
          <a:ln/>
        </p:spPr>
        <p:txBody>
          <a:bodyPr/>
          <a:lstStyle/>
          <a:p>
            <a:endParaRPr lang="en-IN"/>
          </a:p>
        </p:txBody>
      </p:sp>
      <p:sp>
        <p:nvSpPr>
          <p:cNvPr id="21" name="Text 19"/>
          <p:cNvSpPr/>
          <p:nvPr/>
        </p:nvSpPr>
        <p:spPr>
          <a:xfrm>
            <a:off x="5943600" y="1764792"/>
            <a:ext cx="2560320" cy="201168"/>
          </a:xfrm>
          <a:prstGeom prst="rect">
            <a:avLst/>
          </a:prstGeom>
          <a:noFill/>
          <a:ln/>
        </p:spPr>
        <p:txBody>
          <a:bodyPr wrap="square" lIns="0" tIns="0" rIns="0" bIns="0" rtlCol="0" anchor="ctr"/>
          <a:lstStyle/>
          <a:p>
            <a:pPr marL="0" indent="0">
              <a:buNone/>
            </a:pPr>
            <a:r>
              <a:rPr lang="en-US" sz="1200" b="1" dirty="0">
                <a:solidFill>
                  <a:srgbClr val="306998"/>
                </a:solidFill>
                <a:latin typeface="Consolas" pitchFamily="34" charset="0"/>
                <a:ea typeface="Consolas" pitchFamily="34" charset="-122"/>
                <a:cs typeface="Consolas" pitchFamily="34" charset="-120"/>
              </a:rPr>
              <a:t>def</a:t>
            </a:r>
            <a:endParaRPr lang="en-US" sz="1200" dirty="0"/>
          </a:p>
        </p:txBody>
      </p:sp>
      <p:sp>
        <p:nvSpPr>
          <p:cNvPr id="22" name="Text 20"/>
          <p:cNvSpPr/>
          <p:nvPr/>
        </p:nvSpPr>
        <p:spPr>
          <a:xfrm>
            <a:off x="5943600" y="1984248"/>
            <a:ext cx="2560320" cy="201168"/>
          </a:xfrm>
          <a:prstGeom prst="rect">
            <a:avLst/>
          </a:prstGeom>
          <a:noFill/>
          <a:ln/>
        </p:spPr>
        <p:txBody>
          <a:bodyPr wrap="square" lIns="0" tIns="0" rIns="0" bIns="0" rtlCol="0" anchor="ctr"/>
          <a:lstStyle/>
          <a:p>
            <a:pPr marL="0" indent="0">
              <a:buNone/>
            </a:pPr>
            <a:r>
              <a:rPr lang="en-US" sz="1000" dirty="0">
                <a:solidFill>
                  <a:srgbClr val="3D4F5F"/>
                </a:solidFill>
                <a:latin typeface="Calibri" pitchFamily="34" charset="0"/>
                <a:ea typeface="Calibri" pitchFamily="34" charset="-122"/>
                <a:cs typeface="Calibri" pitchFamily="34" charset="-120"/>
              </a:rPr>
              <a:t>keyword to define a function</a:t>
            </a:r>
            <a:endParaRPr lang="en-US" sz="1000" dirty="0"/>
          </a:p>
        </p:txBody>
      </p:sp>
      <p:sp>
        <p:nvSpPr>
          <p:cNvPr id="23" name="Shape 21"/>
          <p:cNvSpPr/>
          <p:nvPr/>
        </p:nvSpPr>
        <p:spPr>
          <a:xfrm>
            <a:off x="5760720" y="2331720"/>
            <a:ext cx="292608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24" name="Shape 22"/>
          <p:cNvSpPr/>
          <p:nvPr/>
        </p:nvSpPr>
        <p:spPr>
          <a:xfrm>
            <a:off x="5760720" y="2331720"/>
            <a:ext cx="54864" cy="502920"/>
          </a:xfrm>
          <a:prstGeom prst="rect">
            <a:avLst/>
          </a:prstGeom>
          <a:solidFill>
            <a:srgbClr val="FFD43B"/>
          </a:solidFill>
          <a:ln/>
        </p:spPr>
        <p:txBody>
          <a:bodyPr/>
          <a:lstStyle/>
          <a:p>
            <a:endParaRPr lang="en-IN"/>
          </a:p>
        </p:txBody>
      </p:sp>
      <p:sp>
        <p:nvSpPr>
          <p:cNvPr id="25" name="Text 23"/>
          <p:cNvSpPr/>
          <p:nvPr/>
        </p:nvSpPr>
        <p:spPr>
          <a:xfrm>
            <a:off x="5943600" y="2359152"/>
            <a:ext cx="2560320" cy="201168"/>
          </a:xfrm>
          <a:prstGeom prst="rect">
            <a:avLst/>
          </a:prstGeom>
          <a:noFill/>
          <a:ln/>
        </p:spPr>
        <p:txBody>
          <a:bodyPr wrap="square" lIns="0" tIns="0" rIns="0" bIns="0" rtlCol="0" anchor="ctr"/>
          <a:lstStyle/>
          <a:p>
            <a:pPr marL="0" indent="0">
              <a:buNone/>
            </a:pPr>
            <a:r>
              <a:rPr lang="en-US" sz="1200" b="1" dirty="0">
                <a:solidFill>
                  <a:srgbClr val="306998"/>
                </a:solidFill>
                <a:latin typeface="Consolas" pitchFamily="34" charset="0"/>
                <a:ea typeface="Consolas" pitchFamily="34" charset="-122"/>
                <a:cs typeface="Consolas" pitchFamily="34" charset="-120"/>
              </a:rPr>
              <a:t>return</a:t>
            </a:r>
            <a:endParaRPr lang="en-US" sz="1200" dirty="0"/>
          </a:p>
        </p:txBody>
      </p:sp>
      <p:sp>
        <p:nvSpPr>
          <p:cNvPr id="26" name="Text 24"/>
          <p:cNvSpPr/>
          <p:nvPr/>
        </p:nvSpPr>
        <p:spPr>
          <a:xfrm>
            <a:off x="5943600" y="2578608"/>
            <a:ext cx="2560320" cy="201168"/>
          </a:xfrm>
          <a:prstGeom prst="rect">
            <a:avLst/>
          </a:prstGeom>
          <a:noFill/>
          <a:ln/>
        </p:spPr>
        <p:txBody>
          <a:bodyPr wrap="square" lIns="0" tIns="0" rIns="0" bIns="0" rtlCol="0" anchor="ctr"/>
          <a:lstStyle/>
          <a:p>
            <a:pPr marL="0" indent="0">
              <a:buNone/>
            </a:pPr>
            <a:r>
              <a:rPr lang="en-US" sz="1000" dirty="0">
                <a:solidFill>
                  <a:srgbClr val="3D4F5F"/>
                </a:solidFill>
                <a:latin typeface="Calibri" pitchFamily="34" charset="0"/>
                <a:ea typeface="Calibri" pitchFamily="34" charset="-122"/>
                <a:cs typeface="Calibri" pitchFamily="34" charset="-120"/>
              </a:rPr>
              <a:t>sends a value back to the caller</a:t>
            </a:r>
            <a:endParaRPr lang="en-US" sz="1000" dirty="0"/>
          </a:p>
        </p:txBody>
      </p:sp>
      <p:sp>
        <p:nvSpPr>
          <p:cNvPr id="27" name="Shape 25"/>
          <p:cNvSpPr/>
          <p:nvPr/>
        </p:nvSpPr>
        <p:spPr>
          <a:xfrm>
            <a:off x="5760720" y="2926080"/>
            <a:ext cx="292608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28" name="Shape 26"/>
          <p:cNvSpPr/>
          <p:nvPr/>
        </p:nvSpPr>
        <p:spPr>
          <a:xfrm>
            <a:off x="5760720" y="2926080"/>
            <a:ext cx="54864" cy="502920"/>
          </a:xfrm>
          <a:prstGeom prst="rect">
            <a:avLst/>
          </a:prstGeom>
          <a:solidFill>
            <a:srgbClr val="FFD43B"/>
          </a:solidFill>
          <a:ln/>
        </p:spPr>
        <p:txBody>
          <a:bodyPr/>
          <a:lstStyle/>
          <a:p>
            <a:endParaRPr lang="en-IN"/>
          </a:p>
        </p:txBody>
      </p:sp>
      <p:sp>
        <p:nvSpPr>
          <p:cNvPr id="29" name="Text 27"/>
          <p:cNvSpPr/>
          <p:nvPr/>
        </p:nvSpPr>
        <p:spPr>
          <a:xfrm>
            <a:off x="5943600" y="2953512"/>
            <a:ext cx="2560320" cy="201168"/>
          </a:xfrm>
          <a:prstGeom prst="rect">
            <a:avLst/>
          </a:prstGeom>
          <a:noFill/>
          <a:ln/>
        </p:spPr>
        <p:txBody>
          <a:bodyPr wrap="square" lIns="0" tIns="0" rIns="0" bIns="0" rtlCol="0" anchor="ctr"/>
          <a:lstStyle/>
          <a:p>
            <a:pPr marL="0" indent="0">
              <a:buNone/>
            </a:pPr>
            <a:r>
              <a:rPr lang="en-US" sz="1200" b="1" dirty="0">
                <a:solidFill>
                  <a:srgbClr val="306998"/>
                </a:solidFill>
                <a:latin typeface="Consolas" pitchFamily="34" charset="0"/>
                <a:ea typeface="Consolas" pitchFamily="34" charset="-122"/>
                <a:cs typeface="Consolas" pitchFamily="34" charset="-120"/>
              </a:rPr>
              <a:t>parameters</a:t>
            </a:r>
            <a:endParaRPr lang="en-US" sz="1200" dirty="0"/>
          </a:p>
        </p:txBody>
      </p:sp>
      <p:sp>
        <p:nvSpPr>
          <p:cNvPr id="30" name="Text 28"/>
          <p:cNvSpPr/>
          <p:nvPr/>
        </p:nvSpPr>
        <p:spPr>
          <a:xfrm>
            <a:off x="5943600" y="3172968"/>
            <a:ext cx="2560320" cy="201168"/>
          </a:xfrm>
          <a:prstGeom prst="rect">
            <a:avLst/>
          </a:prstGeom>
          <a:noFill/>
          <a:ln/>
        </p:spPr>
        <p:txBody>
          <a:bodyPr wrap="square" lIns="0" tIns="0" rIns="0" bIns="0" rtlCol="0" anchor="ctr"/>
          <a:lstStyle/>
          <a:p>
            <a:pPr marL="0" indent="0">
              <a:buNone/>
            </a:pPr>
            <a:r>
              <a:rPr lang="en-US" sz="1000" dirty="0">
                <a:solidFill>
                  <a:srgbClr val="3D4F5F"/>
                </a:solidFill>
                <a:latin typeface="Calibri" pitchFamily="34" charset="0"/>
                <a:ea typeface="Calibri" pitchFamily="34" charset="-122"/>
                <a:cs typeface="Calibri" pitchFamily="34" charset="-120"/>
              </a:rPr>
              <a:t>inputs the function accepts</a:t>
            </a:r>
            <a:endParaRPr lang="en-US" sz="1000" dirty="0"/>
          </a:p>
        </p:txBody>
      </p:sp>
      <p:sp>
        <p:nvSpPr>
          <p:cNvPr id="31" name="Shape 29"/>
          <p:cNvSpPr/>
          <p:nvPr/>
        </p:nvSpPr>
        <p:spPr>
          <a:xfrm>
            <a:off x="5760720" y="3520440"/>
            <a:ext cx="292608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32" name="Shape 30"/>
          <p:cNvSpPr/>
          <p:nvPr/>
        </p:nvSpPr>
        <p:spPr>
          <a:xfrm>
            <a:off x="5760720" y="3520440"/>
            <a:ext cx="54864" cy="502920"/>
          </a:xfrm>
          <a:prstGeom prst="rect">
            <a:avLst/>
          </a:prstGeom>
          <a:solidFill>
            <a:srgbClr val="FFD43B"/>
          </a:solidFill>
          <a:ln/>
        </p:spPr>
        <p:txBody>
          <a:bodyPr/>
          <a:lstStyle/>
          <a:p>
            <a:endParaRPr lang="en-IN"/>
          </a:p>
        </p:txBody>
      </p:sp>
      <p:sp>
        <p:nvSpPr>
          <p:cNvPr id="33" name="Text 31"/>
          <p:cNvSpPr/>
          <p:nvPr/>
        </p:nvSpPr>
        <p:spPr>
          <a:xfrm>
            <a:off x="5943600" y="3547872"/>
            <a:ext cx="2560320" cy="201168"/>
          </a:xfrm>
          <a:prstGeom prst="rect">
            <a:avLst/>
          </a:prstGeom>
          <a:noFill/>
          <a:ln/>
        </p:spPr>
        <p:txBody>
          <a:bodyPr wrap="square" lIns="0" tIns="0" rIns="0" bIns="0" rtlCol="0" anchor="ctr"/>
          <a:lstStyle/>
          <a:p>
            <a:pPr marL="0" indent="0">
              <a:buNone/>
            </a:pPr>
            <a:r>
              <a:rPr lang="en-US" sz="1200" b="1" dirty="0">
                <a:solidFill>
                  <a:srgbClr val="306998"/>
                </a:solidFill>
                <a:latin typeface="Consolas" pitchFamily="34" charset="0"/>
                <a:ea typeface="Consolas" pitchFamily="34" charset="-122"/>
                <a:cs typeface="Consolas" pitchFamily="34" charset="-120"/>
              </a:rPr>
              <a:t>defaults</a:t>
            </a:r>
            <a:endParaRPr lang="en-US" sz="1200" dirty="0"/>
          </a:p>
        </p:txBody>
      </p:sp>
      <p:sp>
        <p:nvSpPr>
          <p:cNvPr id="34" name="Text 32"/>
          <p:cNvSpPr/>
          <p:nvPr/>
        </p:nvSpPr>
        <p:spPr>
          <a:xfrm>
            <a:off x="5943600" y="3767328"/>
            <a:ext cx="2560320" cy="201168"/>
          </a:xfrm>
          <a:prstGeom prst="rect">
            <a:avLst/>
          </a:prstGeom>
          <a:noFill/>
          <a:ln/>
        </p:spPr>
        <p:txBody>
          <a:bodyPr wrap="square" lIns="0" tIns="0" rIns="0" bIns="0" rtlCol="0" anchor="ctr"/>
          <a:lstStyle/>
          <a:p>
            <a:pPr marL="0" indent="0">
              <a:buNone/>
            </a:pPr>
            <a:r>
              <a:rPr lang="en-US" sz="1000" dirty="0">
                <a:solidFill>
                  <a:srgbClr val="3D4F5F"/>
                </a:solidFill>
                <a:latin typeface="Calibri" pitchFamily="34" charset="0"/>
                <a:ea typeface="Calibri" pitchFamily="34" charset="-122"/>
                <a:cs typeface="Calibri" pitchFamily="34" charset="-120"/>
              </a:rPr>
              <a:t>optional values (greeting="Hello")</a:t>
            </a:r>
            <a:endParaRPr lang="en-US" sz="1000" dirty="0"/>
          </a:p>
        </p:txBody>
      </p:sp>
      <p:sp>
        <p:nvSpPr>
          <p:cNvPr id="35" name="Shape 33"/>
          <p:cNvSpPr/>
          <p:nvPr/>
        </p:nvSpPr>
        <p:spPr>
          <a:xfrm>
            <a:off x="5760720" y="4114800"/>
            <a:ext cx="2926080" cy="5029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36" name="Shape 34"/>
          <p:cNvSpPr/>
          <p:nvPr/>
        </p:nvSpPr>
        <p:spPr>
          <a:xfrm>
            <a:off x="5760720" y="4114800"/>
            <a:ext cx="54864" cy="502920"/>
          </a:xfrm>
          <a:prstGeom prst="rect">
            <a:avLst/>
          </a:prstGeom>
          <a:solidFill>
            <a:srgbClr val="FFD43B"/>
          </a:solidFill>
          <a:ln/>
        </p:spPr>
        <p:txBody>
          <a:bodyPr/>
          <a:lstStyle/>
          <a:p>
            <a:endParaRPr lang="en-IN"/>
          </a:p>
        </p:txBody>
      </p:sp>
      <p:sp>
        <p:nvSpPr>
          <p:cNvPr id="37" name="Text 35"/>
          <p:cNvSpPr/>
          <p:nvPr/>
        </p:nvSpPr>
        <p:spPr>
          <a:xfrm>
            <a:off x="5943600" y="4142232"/>
            <a:ext cx="2560320" cy="201168"/>
          </a:xfrm>
          <a:prstGeom prst="rect">
            <a:avLst/>
          </a:prstGeom>
          <a:noFill/>
          <a:ln/>
        </p:spPr>
        <p:txBody>
          <a:bodyPr wrap="square" lIns="0" tIns="0" rIns="0" bIns="0" rtlCol="0" anchor="ctr"/>
          <a:lstStyle/>
          <a:p>
            <a:pPr marL="0" indent="0">
              <a:buNone/>
            </a:pPr>
            <a:r>
              <a:rPr lang="en-US" sz="1200" b="1" dirty="0">
                <a:solidFill>
                  <a:srgbClr val="306998"/>
                </a:solidFill>
                <a:latin typeface="Consolas" pitchFamily="34" charset="0"/>
                <a:ea typeface="Consolas" pitchFamily="34" charset="-122"/>
                <a:cs typeface="Consolas" pitchFamily="34" charset="-120"/>
              </a:rPr>
              <a:t>docstrings</a:t>
            </a:r>
            <a:endParaRPr lang="en-US" sz="1200" dirty="0"/>
          </a:p>
        </p:txBody>
      </p:sp>
      <p:sp>
        <p:nvSpPr>
          <p:cNvPr id="38" name="Text 36"/>
          <p:cNvSpPr/>
          <p:nvPr/>
        </p:nvSpPr>
        <p:spPr>
          <a:xfrm>
            <a:off x="5943600" y="4361688"/>
            <a:ext cx="2560320" cy="201168"/>
          </a:xfrm>
          <a:prstGeom prst="rect">
            <a:avLst/>
          </a:prstGeom>
          <a:noFill/>
          <a:ln/>
        </p:spPr>
        <p:txBody>
          <a:bodyPr wrap="square" lIns="0" tIns="0" rIns="0" bIns="0" rtlCol="0" anchor="ctr"/>
          <a:lstStyle/>
          <a:p>
            <a:pPr marL="0" indent="0">
              <a:buNone/>
            </a:pPr>
            <a:r>
              <a:rPr lang="en-US" sz="1000" dirty="0">
                <a:solidFill>
                  <a:srgbClr val="3D4F5F"/>
                </a:solidFill>
                <a:latin typeface="Calibri" pitchFamily="34" charset="0"/>
                <a:ea typeface="Calibri" pitchFamily="34" charset="-122"/>
                <a:cs typeface="Calibri" pitchFamily="34" charset="-120"/>
              </a:rPr>
              <a:t>"""describe what the function does"""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p:spPr>
        <p:txBody>
          <a:bodyPr/>
          <a:lstStyle/>
          <a:p>
            <a:endParaRPr lang="en-IN"/>
          </a:p>
        </p:txBody>
      </p:sp>
      <p:sp>
        <p:nvSpPr>
          <p:cNvPr id="3" name="Text 1"/>
          <p:cNvSpPr/>
          <p:nvPr/>
        </p:nvSpPr>
        <p:spPr>
          <a:xfrm>
            <a:off x="548640" y="13716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Modules &amp; Imports</a:t>
            </a:r>
            <a:endParaRPr lang="en-US" sz="3200" dirty="0"/>
          </a:p>
        </p:txBody>
      </p:sp>
      <p:sp>
        <p:nvSpPr>
          <p:cNvPr id="4" name="Shape 2"/>
          <p:cNvSpPr/>
          <p:nvPr/>
        </p:nvSpPr>
        <p:spPr>
          <a:xfrm>
            <a:off x="457200" y="1188720"/>
            <a:ext cx="8229600" cy="2103120"/>
          </a:xfrm>
          <a:prstGeom prst="rect">
            <a:avLst/>
          </a:prstGeom>
          <a:solidFill>
            <a:srgbClr val="2C3E50"/>
          </a:solidFill>
          <a:ln/>
          <a:effectLst>
            <a:outerShdw blurRad="50800" dist="25400" dir="8100000" algn="bl" rotWithShape="0">
              <a:srgbClr val="000000">
                <a:alpha val="10000"/>
              </a:srgbClr>
            </a:outerShdw>
          </a:effectLst>
        </p:spPr>
        <p:txBody>
          <a:bodyPr/>
          <a:lstStyle/>
          <a:p>
            <a:endParaRPr lang="en-IN"/>
          </a:p>
        </p:txBody>
      </p:sp>
      <p:sp>
        <p:nvSpPr>
          <p:cNvPr id="5" name="Text 3"/>
          <p:cNvSpPr/>
          <p:nvPr/>
        </p:nvSpPr>
        <p:spPr>
          <a:xfrm>
            <a:off x="640080" y="1280160"/>
            <a:ext cx="7315200" cy="274320"/>
          </a:xfrm>
          <a:prstGeom prst="rect">
            <a:avLst/>
          </a:prstGeom>
          <a:noFill/>
          <a:ln/>
        </p:spPr>
        <p:txBody>
          <a:bodyPr wrap="square" lIns="0" tIns="0" rIns="0" bIns="0" rtlCol="0" anchor="ctr"/>
          <a:lstStyle/>
          <a:p>
            <a:pPr marL="0" indent="0">
              <a:buNone/>
            </a:pPr>
            <a:r>
              <a:rPr lang="en-US" sz="1100" dirty="0">
                <a:solidFill>
                  <a:srgbClr val="F0C040"/>
                </a:solidFill>
                <a:latin typeface="Consolas" pitchFamily="34" charset="0"/>
                <a:ea typeface="Consolas" pitchFamily="34" charset="-122"/>
                <a:cs typeface="Consolas" pitchFamily="34" charset="-120"/>
              </a:rPr>
              <a:t>&gt;&gt;&gt; Import Patterns</a:t>
            </a:r>
            <a:endParaRPr lang="en-US" sz="1100" dirty="0"/>
          </a:p>
        </p:txBody>
      </p:sp>
      <p:sp>
        <p:nvSpPr>
          <p:cNvPr id="6" name="Text 4"/>
          <p:cNvSpPr/>
          <p:nvPr/>
        </p:nvSpPr>
        <p:spPr>
          <a:xfrm>
            <a:off x="640080" y="1645920"/>
            <a:ext cx="777240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import os                          # Import entire module</a:t>
            </a:r>
            <a:endParaRPr lang="en-US" sz="1200" dirty="0"/>
          </a:p>
        </p:txBody>
      </p:sp>
      <p:sp>
        <p:nvSpPr>
          <p:cNvPr id="7" name="Text 5"/>
          <p:cNvSpPr/>
          <p:nvPr/>
        </p:nvSpPr>
        <p:spPr>
          <a:xfrm>
            <a:off x="640080" y="1920240"/>
            <a:ext cx="777240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import json                        # Built-in JSON module</a:t>
            </a:r>
            <a:endParaRPr lang="en-US" sz="1200" dirty="0"/>
          </a:p>
        </p:txBody>
      </p:sp>
      <p:sp>
        <p:nvSpPr>
          <p:cNvPr id="8" name="Text 6"/>
          <p:cNvSpPr/>
          <p:nvPr/>
        </p:nvSpPr>
        <p:spPr>
          <a:xfrm>
            <a:off x="640080" y="2194560"/>
            <a:ext cx="777240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from datetime import datetime      # Import specific item</a:t>
            </a:r>
            <a:endParaRPr lang="en-US" sz="1200" dirty="0"/>
          </a:p>
        </p:txBody>
      </p:sp>
      <p:sp>
        <p:nvSpPr>
          <p:cNvPr id="9" name="Text 7"/>
          <p:cNvSpPr/>
          <p:nvPr/>
        </p:nvSpPr>
        <p:spPr>
          <a:xfrm>
            <a:off x="640080" y="2468880"/>
            <a:ext cx="777240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from dotenv import load_dotenv     # Import from a package</a:t>
            </a:r>
            <a:endParaRPr lang="en-US" sz="1200" dirty="0"/>
          </a:p>
        </p:txBody>
      </p:sp>
      <p:sp>
        <p:nvSpPr>
          <p:cNvPr id="10" name="Text 8"/>
          <p:cNvSpPr/>
          <p:nvPr/>
        </p:nvSpPr>
        <p:spPr>
          <a:xfrm>
            <a:off x="640080" y="2743200"/>
            <a:ext cx="7772400" cy="256032"/>
          </a:xfrm>
          <a:prstGeom prst="rect">
            <a:avLst/>
          </a:prstGeom>
          <a:noFill/>
          <a:ln/>
        </p:spPr>
        <p:txBody>
          <a:bodyPr wrap="square" lIns="0" tIns="0" rIns="0" bIns="0"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import requests as req             # Import with alias</a:t>
            </a:r>
            <a:endParaRPr lang="en-US" sz="1200" dirty="0"/>
          </a:p>
        </p:txBody>
      </p:sp>
      <p:sp>
        <p:nvSpPr>
          <p:cNvPr id="11" name="Shape 9"/>
          <p:cNvSpPr/>
          <p:nvPr/>
        </p:nvSpPr>
        <p:spPr>
          <a:xfrm>
            <a:off x="457200" y="3566160"/>
            <a:ext cx="2606040" cy="12801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12" name="Shape 10"/>
          <p:cNvSpPr/>
          <p:nvPr/>
        </p:nvSpPr>
        <p:spPr>
          <a:xfrm>
            <a:off x="457200" y="3566160"/>
            <a:ext cx="2606040" cy="54864"/>
          </a:xfrm>
          <a:prstGeom prst="rect">
            <a:avLst/>
          </a:prstGeom>
          <a:solidFill>
            <a:srgbClr val="306998"/>
          </a:solidFill>
          <a:ln/>
        </p:spPr>
        <p:txBody>
          <a:bodyPr/>
          <a:lstStyle/>
          <a:p>
            <a:endParaRPr lang="en-IN"/>
          </a:p>
        </p:txBody>
      </p:sp>
      <p:sp>
        <p:nvSpPr>
          <p:cNvPr id="13" name="Text 11"/>
          <p:cNvSpPr/>
          <p:nvPr/>
        </p:nvSpPr>
        <p:spPr>
          <a:xfrm>
            <a:off x="640080" y="3749040"/>
            <a:ext cx="2240280" cy="274320"/>
          </a:xfrm>
          <a:prstGeom prst="rect">
            <a:avLst/>
          </a:prstGeom>
          <a:noFill/>
          <a:ln/>
        </p:spPr>
        <p:txBody>
          <a:bodyPr wrap="square" lIns="0" tIns="0" rIns="0" bIns="0" rtlCol="0" anchor="ctr"/>
          <a:lstStyle/>
          <a:p>
            <a:pPr marL="0" indent="0">
              <a:buNone/>
            </a:pPr>
            <a:r>
              <a:rPr lang="en-US" sz="1400" b="1" dirty="0">
                <a:solidFill>
                  <a:srgbClr val="1B2A4A"/>
                </a:solidFill>
                <a:latin typeface="Georgia" pitchFamily="34" charset="0"/>
                <a:ea typeface="Georgia" pitchFamily="34" charset="-122"/>
                <a:cs typeface="Georgia" pitchFamily="34" charset="-120"/>
              </a:rPr>
              <a:t>Built-in</a:t>
            </a:r>
            <a:endParaRPr lang="en-US" sz="1400" dirty="0"/>
          </a:p>
        </p:txBody>
      </p:sp>
      <p:sp>
        <p:nvSpPr>
          <p:cNvPr id="14" name="Text 12"/>
          <p:cNvSpPr/>
          <p:nvPr/>
        </p:nvSpPr>
        <p:spPr>
          <a:xfrm>
            <a:off x="640080" y="4069080"/>
            <a:ext cx="2240280" cy="640080"/>
          </a:xfrm>
          <a:prstGeom prst="rect">
            <a:avLst/>
          </a:prstGeom>
          <a:noFill/>
          <a:ln/>
        </p:spPr>
        <p:txBody>
          <a:bodyPr wrap="square" lIns="0" tIns="0" rIns="0" bIns="0" rtlCol="0" anchor="ctr"/>
          <a:lstStyle/>
          <a:p>
            <a:pPr marL="0" indent="0">
              <a:lnSpc>
                <a:spcPct val="130000"/>
              </a:lnSpc>
              <a:buNone/>
            </a:pPr>
            <a:r>
              <a:rPr lang="en-US" sz="1200" dirty="0">
                <a:solidFill>
                  <a:srgbClr val="3D4F5F"/>
                </a:solidFill>
                <a:latin typeface="Consolas" pitchFamily="34" charset="0"/>
                <a:ea typeface="Consolas" pitchFamily="34" charset="-122"/>
                <a:cs typeface="Consolas" pitchFamily="34" charset="-120"/>
              </a:rPr>
              <a:t>os, json, sys,</a:t>
            </a:r>
            <a:endParaRPr lang="en-US" sz="1200" dirty="0"/>
          </a:p>
          <a:p>
            <a:pPr marL="0" indent="0">
              <a:lnSpc>
                <a:spcPct val="130000"/>
              </a:lnSpc>
              <a:buNone/>
            </a:pPr>
            <a:r>
              <a:rPr lang="en-US" sz="1200" dirty="0">
                <a:solidFill>
                  <a:srgbClr val="3D4F5F"/>
                </a:solidFill>
                <a:latin typeface="Consolas" pitchFamily="34" charset="0"/>
                <a:ea typeface="Consolas" pitchFamily="34" charset="-122"/>
                <a:cs typeface="Consolas" pitchFamily="34" charset="-120"/>
              </a:rPr>
              <a:t>datetime, math</a:t>
            </a:r>
            <a:endParaRPr lang="en-US" sz="1200" dirty="0"/>
          </a:p>
        </p:txBody>
      </p:sp>
      <p:sp>
        <p:nvSpPr>
          <p:cNvPr id="15" name="Shape 13"/>
          <p:cNvSpPr/>
          <p:nvPr/>
        </p:nvSpPr>
        <p:spPr>
          <a:xfrm>
            <a:off x="3337560" y="3566160"/>
            <a:ext cx="2606040" cy="12801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16" name="Shape 14"/>
          <p:cNvSpPr/>
          <p:nvPr/>
        </p:nvSpPr>
        <p:spPr>
          <a:xfrm>
            <a:off x="3337560" y="3566160"/>
            <a:ext cx="2606040" cy="54864"/>
          </a:xfrm>
          <a:prstGeom prst="rect">
            <a:avLst/>
          </a:prstGeom>
          <a:solidFill>
            <a:srgbClr val="27AE60"/>
          </a:solidFill>
          <a:ln/>
        </p:spPr>
        <p:txBody>
          <a:bodyPr/>
          <a:lstStyle/>
          <a:p>
            <a:endParaRPr lang="en-IN"/>
          </a:p>
        </p:txBody>
      </p:sp>
      <p:sp>
        <p:nvSpPr>
          <p:cNvPr id="17" name="Text 15"/>
          <p:cNvSpPr/>
          <p:nvPr/>
        </p:nvSpPr>
        <p:spPr>
          <a:xfrm>
            <a:off x="3520440" y="3749040"/>
            <a:ext cx="2240280" cy="274320"/>
          </a:xfrm>
          <a:prstGeom prst="rect">
            <a:avLst/>
          </a:prstGeom>
          <a:noFill/>
          <a:ln/>
        </p:spPr>
        <p:txBody>
          <a:bodyPr wrap="square" lIns="0" tIns="0" rIns="0" bIns="0" rtlCol="0" anchor="ctr"/>
          <a:lstStyle/>
          <a:p>
            <a:pPr marL="0" indent="0">
              <a:buNone/>
            </a:pPr>
            <a:r>
              <a:rPr lang="en-US" sz="1400" b="1" dirty="0">
                <a:solidFill>
                  <a:srgbClr val="1B2A4A"/>
                </a:solidFill>
                <a:latin typeface="Georgia" pitchFamily="34" charset="0"/>
                <a:ea typeface="Georgia" pitchFamily="34" charset="-122"/>
                <a:cs typeface="Georgia" pitchFamily="34" charset="-120"/>
              </a:rPr>
              <a:t>pip install</a:t>
            </a:r>
            <a:endParaRPr lang="en-US" sz="1400" dirty="0"/>
          </a:p>
        </p:txBody>
      </p:sp>
      <p:sp>
        <p:nvSpPr>
          <p:cNvPr id="18" name="Text 16"/>
          <p:cNvSpPr/>
          <p:nvPr/>
        </p:nvSpPr>
        <p:spPr>
          <a:xfrm>
            <a:off x="3520440" y="4069080"/>
            <a:ext cx="2240280" cy="640080"/>
          </a:xfrm>
          <a:prstGeom prst="rect">
            <a:avLst/>
          </a:prstGeom>
          <a:noFill/>
          <a:ln/>
        </p:spPr>
        <p:txBody>
          <a:bodyPr wrap="square" lIns="0" tIns="0" rIns="0" bIns="0" rtlCol="0" anchor="ctr"/>
          <a:lstStyle/>
          <a:p>
            <a:pPr marL="0" indent="0">
              <a:lnSpc>
                <a:spcPct val="130000"/>
              </a:lnSpc>
              <a:buNone/>
            </a:pPr>
            <a:r>
              <a:rPr lang="en-US" sz="1200" dirty="0">
                <a:solidFill>
                  <a:srgbClr val="3D4F5F"/>
                </a:solidFill>
                <a:latin typeface="Consolas" pitchFamily="34" charset="0"/>
                <a:ea typeface="Consolas" pitchFamily="34" charset="-122"/>
                <a:cs typeface="Consolas" pitchFamily="34" charset="-120"/>
              </a:rPr>
              <a:t>requests, dotenv,</a:t>
            </a:r>
            <a:endParaRPr lang="en-US" sz="1200" dirty="0"/>
          </a:p>
          <a:p>
            <a:pPr marL="0" indent="0">
              <a:lnSpc>
                <a:spcPct val="130000"/>
              </a:lnSpc>
              <a:buNone/>
            </a:pPr>
            <a:r>
              <a:rPr lang="en-US" sz="1200" dirty="0">
                <a:solidFill>
                  <a:srgbClr val="3D4F5F"/>
                </a:solidFill>
                <a:latin typeface="Consolas" pitchFamily="34" charset="0"/>
                <a:ea typeface="Consolas" pitchFamily="34" charset="-122"/>
                <a:cs typeface="Consolas" pitchFamily="34" charset="-120"/>
              </a:rPr>
              <a:t>pandas, flask</a:t>
            </a:r>
            <a:endParaRPr lang="en-US" sz="1200" dirty="0"/>
          </a:p>
        </p:txBody>
      </p:sp>
      <p:sp>
        <p:nvSpPr>
          <p:cNvPr id="19" name="Shape 17"/>
          <p:cNvSpPr/>
          <p:nvPr/>
        </p:nvSpPr>
        <p:spPr>
          <a:xfrm>
            <a:off x="6217920" y="3566160"/>
            <a:ext cx="2606040" cy="12801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20" name="Shape 18"/>
          <p:cNvSpPr/>
          <p:nvPr/>
        </p:nvSpPr>
        <p:spPr>
          <a:xfrm>
            <a:off x="6217920" y="3566160"/>
            <a:ext cx="2606040" cy="54864"/>
          </a:xfrm>
          <a:prstGeom prst="rect">
            <a:avLst/>
          </a:prstGeom>
          <a:solidFill>
            <a:srgbClr val="F0C040"/>
          </a:solidFill>
          <a:ln/>
        </p:spPr>
        <p:txBody>
          <a:bodyPr/>
          <a:lstStyle/>
          <a:p>
            <a:endParaRPr lang="en-IN"/>
          </a:p>
        </p:txBody>
      </p:sp>
      <p:sp>
        <p:nvSpPr>
          <p:cNvPr id="21" name="Text 19"/>
          <p:cNvSpPr/>
          <p:nvPr/>
        </p:nvSpPr>
        <p:spPr>
          <a:xfrm>
            <a:off x="6400800" y="3749040"/>
            <a:ext cx="2240280" cy="274320"/>
          </a:xfrm>
          <a:prstGeom prst="rect">
            <a:avLst/>
          </a:prstGeom>
          <a:noFill/>
          <a:ln/>
        </p:spPr>
        <p:txBody>
          <a:bodyPr wrap="square" lIns="0" tIns="0" rIns="0" bIns="0" rtlCol="0" anchor="ctr"/>
          <a:lstStyle/>
          <a:p>
            <a:pPr marL="0" indent="0">
              <a:buNone/>
            </a:pPr>
            <a:r>
              <a:rPr lang="en-US" sz="1400" b="1" dirty="0">
                <a:solidFill>
                  <a:srgbClr val="1B2A4A"/>
                </a:solidFill>
                <a:latin typeface="Georgia" pitchFamily="34" charset="0"/>
                <a:ea typeface="Georgia" pitchFamily="34" charset="-122"/>
                <a:cs typeface="Georgia" pitchFamily="34" charset="-120"/>
              </a:rPr>
              <a:t>Your own</a:t>
            </a:r>
            <a:endParaRPr lang="en-US" sz="1400" dirty="0"/>
          </a:p>
        </p:txBody>
      </p:sp>
      <p:sp>
        <p:nvSpPr>
          <p:cNvPr id="22" name="Text 20"/>
          <p:cNvSpPr/>
          <p:nvPr/>
        </p:nvSpPr>
        <p:spPr>
          <a:xfrm>
            <a:off x="6400800" y="4069080"/>
            <a:ext cx="2240280" cy="640080"/>
          </a:xfrm>
          <a:prstGeom prst="rect">
            <a:avLst/>
          </a:prstGeom>
          <a:noFill/>
          <a:ln/>
        </p:spPr>
        <p:txBody>
          <a:bodyPr wrap="square" lIns="0" tIns="0" rIns="0" bIns="0" rtlCol="0" anchor="ctr"/>
          <a:lstStyle/>
          <a:p>
            <a:pPr marL="0" indent="0">
              <a:lnSpc>
                <a:spcPct val="130000"/>
              </a:lnSpc>
              <a:buNone/>
            </a:pPr>
            <a:r>
              <a:rPr lang="en-US" sz="1200" dirty="0">
                <a:solidFill>
                  <a:srgbClr val="3D4F5F"/>
                </a:solidFill>
                <a:latin typeface="Consolas" pitchFamily="34" charset="0"/>
                <a:ea typeface="Consolas" pitchFamily="34" charset="-122"/>
                <a:cs typeface="Consolas" pitchFamily="34" charset="-120"/>
              </a:rPr>
              <a:t>my_module.py</a:t>
            </a:r>
            <a:endParaRPr lang="en-US" sz="1200" dirty="0"/>
          </a:p>
          <a:p>
            <a:pPr marL="0" indent="0">
              <a:lnSpc>
                <a:spcPct val="130000"/>
              </a:lnSpc>
              <a:buNone/>
            </a:pPr>
            <a:r>
              <a:rPr lang="en-US" sz="1200" dirty="0">
                <a:solidFill>
                  <a:srgbClr val="3D4F5F"/>
                </a:solidFill>
                <a:latin typeface="Consolas" pitchFamily="34" charset="0"/>
                <a:ea typeface="Consolas" pitchFamily="34" charset="-122"/>
                <a:cs typeface="Consolas" pitchFamily="34" charset="-120"/>
              </a:rPr>
              <a:t>→ import my_module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p:spPr>
        <p:txBody>
          <a:bodyPr/>
          <a:lstStyle/>
          <a:p>
            <a:endParaRPr lang="en-IN"/>
          </a:p>
        </p:txBody>
      </p:sp>
      <p:sp>
        <p:nvSpPr>
          <p:cNvPr id="3" name="Text 1"/>
          <p:cNvSpPr/>
          <p:nvPr/>
        </p:nvSpPr>
        <p:spPr>
          <a:xfrm>
            <a:off x="548640" y="13716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File Handling</a:t>
            </a:r>
            <a:endParaRPr lang="en-US" sz="3200" dirty="0"/>
          </a:p>
        </p:txBody>
      </p:sp>
      <p:sp>
        <p:nvSpPr>
          <p:cNvPr id="4" name="Shape 2"/>
          <p:cNvSpPr/>
          <p:nvPr/>
        </p:nvSpPr>
        <p:spPr>
          <a:xfrm>
            <a:off x="457200" y="1188720"/>
            <a:ext cx="3931920" cy="2286000"/>
          </a:xfrm>
          <a:prstGeom prst="rect">
            <a:avLst/>
          </a:prstGeom>
          <a:solidFill>
            <a:srgbClr val="2C3E50"/>
          </a:solidFill>
          <a:ln/>
          <a:effectLst>
            <a:outerShdw blurRad="50800" dist="25400" dir="8100000" algn="bl" rotWithShape="0">
              <a:srgbClr val="000000">
                <a:alpha val="10000"/>
              </a:srgbClr>
            </a:outerShdw>
          </a:effectLst>
        </p:spPr>
        <p:txBody>
          <a:bodyPr/>
          <a:lstStyle/>
          <a:p>
            <a:endParaRPr lang="en-IN"/>
          </a:p>
        </p:txBody>
      </p:sp>
      <p:sp>
        <p:nvSpPr>
          <p:cNvPr id="5" name="Text 3"/>
          <p:cNvSpPr/>
          <p:nvPr/>
        </p:nvSpPr>
        <p:spPr>
          <a:xfrm>
            <a:off x="640080" y="1280160"/>
            <a:ext cx="2743200" cy="274320"/>
          </a:xfrm>
          <a:prstGeom prst="rect">
            <a:avLst/>
          </a:prstGeom>
          <a:noFill/>
          <a:ln/>
        </p:spPr>
        <p:txBody>
          <a:bodyPr wrap="square" lIns="0" tIns="0" rIns="0" bIns="0" rtlCol="0" anchor="ctr"/>
          <a:lstStyle/>
          <a:p>
            <a:pPr marL="0" indent="0">
              <a:buNone/>
            </a:pPr>
            <a:r>
              <a:rPr lang="en-US" sz="1300" dirty="0">
                <a:solidFill>
                  <a:srgbClr val="F0C040"/>
                </a:solidFill>
                <a:latin typeface="Consolas" pitchFamily="34" charset="0"/>
                <a:ea typeface="Consolas" pitchFamily="34" charset="-122"/>
                <a:cs typeface="Consolas" pitchFamily="34" charset="-120"/>
              </a:rPr>
              <a:t>Reading Files</a:t>
            </a:r>
            <a:endParaRPr lang="en-US" sz="1300" dirty="0"/>
          </a:p>
        </p:txBody>
      </p:sp>
      <p:sp>
        <p:nvSpPr>
          <p:cNvPr id="6" name="Text 4"/>
          <p:cNvSpPr/>
          <p:nvPr/>
        </p:nvSpPr>
        <p:spPr>
          <a:xfrm>
            <a:off x="640080" y="1645920"/>
            <a:ext cx="3566160" cy="237744"/>
          </a:xfrm>
          <a:prstGeom prst="rect">
            <a:avLst/>
          </a:prstGeom>
          <a:noFill/>
          <a:ln/>
        </p:spPr>
        <p:txBody>
          <a:bodyPr wrap="square" lIns="0" tIns="0" rIns="0" bIns="0" rtlCol="0" anchor="ctr"/>
          <a:lstStyle/>
          <a:p>
            <a:pPr marL="0" indent="0">
              <a:buNone/>
            </a:pPr>
            <a:r>
              <a:rPr lang="en-US" sz="1100" dirty="0">
                <a:solidFill>
                  <a:srgbClr val="8896A6"/>
                </a:solidFill>
                <a:latin typeface="Consolas" pitchFamily="34" charset="0"/>
                <a:ea typeface="Consolas" pitchFamily="34" charset="-122"/>
                <a:cs typeface="Consolas" pitchFamily="34" charset="-120"/>
              </a:rPr>
              <a:t># Safe file reading with "with"</a:t>
            </a:r>
            <a:endParaRPr lang="en-US" sz="1100" dirty="0"/>
          </a:p>
        </p:txBody>
      </p:sp>
      <p:sp>
        <p:nvSpPr>
          <p:cNvPr id="7" name="Text 5"/>
          <p:cNvSpPr/>
          <p:nvPr/>
        </p:nvSpPr>
        <p:spPr>
          <a:xfrm>
            <a:off x="640080" y="1901952"/>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with open("data.txt", "r") as file:</a:t>
            </a:r>
            <a:endParaRPr lang="en-US" sz="1100" dirty="0"/>
          </a:p>
        </p:txBody>
      </p:sp>
      <p:sp>
        <p:nvSpPr>
          <p:cNvPr id="8" name="Text 6"/>
          <p:cNvSpPr/>
          <p:nvPr/>
        </p:nvSpPr>
        <p:spPr>
          <a:xfrm>
            <a:off x="640080" y="2157984"/>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    content = file.read()</a:t>
            </a:r>
            <a:endParaRPr lang="en-US" sz="1100" dirty="0"/>
          </a:p>
        </p:txBody>
      </p:sp>
      <p:sp>
        <p:nvSpPr>
          <p:cNvPr id="9" name="Text 7"/>
          <p:cNvSpPr/>
          <p:nvPr/>
        </p:nvSpPr>
        <p:spPr>
          <a:xfrm>
            <a:off x="640080" y="2414016"/>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    print(content)</a:t>
            </a:r>
            <a:endParaRPr lang="en-US" sz="1100" dirty="0"/>
          </a:p>
        </p:txBody>
      </p:sp>
      <p:sp>
        <p:nvSpPr>
          <p:cNvPr id="10" name="Text 8"/>
          <p:cNvSpPr/>
          <p:nvPr/>
        </p:nvSpPr>
        <p:spPr>
          <a:xfrm>
            <a:off x="640080" y="2670048"/>
            <a:ext cx="3566160" cy="237744"/>
          </a:xfrm>
          <a:prstGeom prst="rect">
            <a:avLst/>
          </a:prstGeom>
          <a:noFill/>
          <a:ln/>
        </p:spPr>
        <p:txBody>
          <a:bodyPr wrap="square" lIns="0" tIns="0" rIns="0" bIns="0" rtlCol="0" anchor="ctr"/>
          <a:lstStyle/>
          <a:p>
            <a:pPr marL="0" indent="0">
              <a:buNone/>
            </a:pPr>
            <a:endParaRPr lang="en-US" sz="1100" dirty="0"/>
          </a:p>
        </p:txBody>
      </p:sp>
      <p:sp>
        <p:nvSpPr>
          <p:cNvPr id="11" name="Text 9"/>
          <p:cNvSpPr/>
          <p:nvPr/>
        </p:nvSpPr>
        <p:spPr>
          <a:xfrm>
            <a:off x="640080" y="2926080"/>
            <a:ext cx="3566160" cy="237744"/>
          </a:xfrm>
          <a:prstGeom prst="rect">
            <a:avLst/>
          </a:prstGeom>
          <a:noFill/>
          <a:ln/>
        </p:spPr>
        <p:txBody>
          <a:bodyPr wrap="square" lIns="0" tIns="0" rIns="0" bIns="0" rtlCol="0" anchor="ctr"/>
          <a:lstStyle/>
          <a:p>
            <a:pPr marL="0" indent="0">
              <a:buNone/>
            </a:pPr>
            <a:r>
              <a:rPr lang="en-US" sz="1100" dirty="0">
                <a:solidFill>
                  <a:srgbClr val="8896A6"/>
                </a:solidFill>
                <a:latin typeface="Consolas" pitchFamily="34" charset="0"/>
                <a:ea typeface="Consolas" pitchFamily="34" charset="-122"/>
                <a:cs typeface="Consolas" pitchFamily="34" charset="-120"/>
              </a:rPr>
              <a:t># File auto-closes after "with" block</a:t>
            </a:r>
            <a:endParaRPr lang="en-US" sz="1100" dirty="0"/>
          </a:p>
        </p:txBody>
      </p:sp>
      <p:sp>
        <p:nvSpPr>
          <p:cNvPr id="12" name="Shape 10"/>
          <p:cNvSpPr/>
          <p:nvPr/>
        </p:nvSpPr>
        <p:spPr>
          <a:xfrm>
            <a:off x="4754880" y="1188720"/>
            <a:ext cx="3931920" cy="2286000"/>
          </a:xfrm>
          <a:prstGeom prst="rect">
            <a:avLst/>
          </a:prstGeom>
          <a:solidFill>
            <a:srgbClr val="2C3E50"/>
          </a:solidFill>
          <a:ln/>
          <a:effectLst>
            <a:outerShdw blurRad="50800" dist="25400" dir="8100000" algn="bl" rotWithShape="0">
              <a:srgbClr val="000000">
                <a:alpha val="10000"/>
              </a:srgbClr>
            </a:outerShdw>
          </a:effectLst>
        </p:spPr>
        <p:txBody>
          <a:bodyPr/>
          <a:lstStyle/>
          <a:p>
            <a:endParaRPr lang="en-IN"/>
          </a:p>
        </p:txBody>
      </p:sp>
      <p:sp>
        <p:nvSpPr>
          <p:cNvPr id="13" name="Text 11"/>
          <p:cNvSpPr/>
          <p:nvPr/>
        </p:nvSpPr>
        <p:spPr>
          <a:xfrm>
            <a:off x="4937760" y="1280160"/>
            <a:ext cx="2743200" cy="274320"/>
          </a:xfrm>
          <a:prstGeom prst="rect">
            <a:avLst/>
          </a:prstGeom>
          <a:noFill/>
          <a:ln/>
        </p:spPr>
        <p:txBody>
          <a:bodyPr wrap="square" lIns="0" tIns="0" rIns="0" bIns="0" rtlCol="0" anchor="ctr"/>
          <a:lstStyle/>
          <a:p>
            <a:pPr marL="0" indent="0">
              <a:buNone/>
            </a:pPr>
            <a:r>
              <a:rPr lang="en-US" sz="1300" dirty="0">
                <a:solidFill>
                  <a:srgbClr val="F0C040"/>
                </a:solidFill>
                <a:latin typeface="Consolas" pitchFamily="34" charset="0"/>
                <a:ea typeface="Consolas" pitchFamily="34" charset="-122"/>
                <a:cs typeface="Consolas" pitchFamily="34" charset="-120"/>
              </a:rPr>
              <a:t>Writing Files</a:t>
            </a:r>
            <a:endParaRPr lang="en-US" sz="1300" dirty="0"/>
          </a:p>
        </p:txBody>
      </p:sp>
      <p:sp>
        <p:nvSpPr>
          <p:cNvPr id="14" name="Text 12"/>
          <p:cNvSpPr/>
          <p:nvPr/>
        </p:nvSpPr>
        <p:spPr>
          <a:xfrm>
            <a:off x="4937760" y="1645920"/>
            <a:ext cx="3566160" cy="237744"/>
          </a:xfrm>
          <a:prstGeom prst="rect">
            <a:avLst/>
          </a:prstGeom>
          <a:noFill/>
          <a:ln/>
        </p:spPr>
        <p:txBody>
          <a:bodyPr wrap="square" lIns="0" tIns="0" rIns="0" bIns="0" rtlCol="0" anchor="ctr"/>
          <a:lstStyle/>
          <a:p>
            <a:pPr marL="0" indent="0">
              <a:buNone/>
            </a:pPr>
            <a:r>
              <a:rPr lang="en-US" sz="1100" dirty="0">
                <a:solidFill>
                  <a:srgbClr val="8896A6"/>
                </a:solidFill>
                <a:latin typeface="Consolas" pitchFamily="34" charset="0"/>
                <a:ea typeface="Consolas" pitchFamily="34" charset="-122"/>
                <a:cs typeface="Consolas" pitchFamily="34" charset="-120"/>
              </a:rPr>
              <a:t># Write to a file</a:t>
            </a:r>
            <a:endParaRPr lang="en-US" sz="1100" dirty="0"/>
          </a:p>
        </p:txBody>
      </p:sp>
      <p:sp>
        <p:nvSpPr>
          <p:cNvPr id="15" name="Text 13"/>
          <p:cNvSpPr/>
          <p:nvPr/>
        </p:nvSpPr>
        <p:spPr>
          <a:xfrm>
            <a:off x="4937760" y="1901952"/>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with open("output.txt", "w") as file:</a:t>
            </a:r>
            <a:endParaRPr lang="en-US" sz="1100" dirty="0"/>
          </a:p>
        </p:txBody>
      </p:sp>
      <p:sp>
        <p:nvSpPr>
          <p:cNvPr id="16" name="Text 14"/>
          <p:cNvSpPr/>
          <p:nvPr/>
        </p:nvSpPr>
        <p:spPr>
          <a:xfrm>
            <a:off x="4937760" y="2157984"/>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    file.write("Hello!\n")</a:t>
            </a:r>
            <a:endParaRPr lang="en-US" sz="1100" dirty="0"/>
          </a:p>
        </p:txBody>
      </p:sp>
      <p:sp>
        <p:nvSpPr>
          <p:cNvPr id="17" name="Text 15"/>
          <p:cNvSpPr/>
          <p:nvPr/>
        </p:nvSpPr>
        <p:spPr>
          <a:xfrm>
            <a:off x="4937760" y="2414016"/>
            <a:ext cx="3566160" cy="237744"/>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    file.write("Line two\n")</a:t>
            </a:r>
            <a:endParaRPr lang="en-US" sz="1100" dirty="0"/>
          </a:p>
        </p:txBody>
      </p:sp>
      <p:sp>
        <p:nvSpPr>
          <p:cNvPr id="18" name="Text 16"/>
          <p:cNvSpPr/>
          <p:nvPr/>
        </p:nvSpPr>
        <p:spPr>
          <a:xfrm>
            <a:off x="4937760" y="2670048"/>
            <a:ext cx="3566160" cy="237744"/>
          </a:xfrm>
          <a:prstGeom prst="rect">
            <a:avLst/>
          </a:prstGeom>
          <a:noFill/>
          <a:ln/>
        </p:spPr>
        <p:txBody>
          <a:bodyPr wrap="square" lIns="0" tIns="0" rIns="0" bIns="0" rtlCol="0" anchor="ctr"/>
          <a:lstStyle/>
          <a:p>
            <a:pPr marL="0" indent="0">
              <a:buNone/>
            </a:pPr>
            <a:endParaRPr lang="en-US" sz="1100" dirty="0"/>
          </a:p>
        </p:txBody>
      </p:sp>
      <p:sp>
        <p:nvSpPr>
          <p:cNvPr id="19" name="Text 17"/>
          <p:cNvSpPr/>
          <p:nvPr/>
        </p:nvSpPr>
        <p:spPr>
          <a:xfrm>
            <a:off x="4937760" y="2926080"/>
            <a:ext cx="3566160" cy="237744"/>
          </a:xfrm>
          <a:prstGeom prst="rect">
            <a:avLst/>
          </a:prstGeom>
          <a:noFill/>
          <a:ln/>
        </p:spPr>
        <p:txBody>
          <a:bodyPr wrap="square" lIns="0" tIns="0" rIns="0" bIns="0" rtlCol="0" anchor="ctr"/>
          <a:lstStyle/>
          <a:p>
            <a:pPr marL="0" indent="0">
              <a:buNone/>
            </a:pPr>
            <a:r>
              <a:rPr lang="en-US" sz="1100" dirty="0">
                <a:solidFill>
                  <a:srgbClr val="8896A6"/>
                </a:solidFill>
                <a:latin typeface="Consolas" pitchFamily="34" charset="0"/>
                <a:ea typeface="Consolas" pitchFamily="34" charset="-122"/>
                <a:cs typeface="Consolas" pitchFamily="34" charset="-120"/>
              </a:rPr>
              <a:t># "w" = write, "a" = append, "rb" = read binary</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3703320"/>
          <a:ext cx="8229600" cy="1389888"/>
        </p:xfrm>
        <a:graphic>
          <a:graphicData uri="http://schemas.openxmlformats.org/drawingml/2006/table">
            <a:tbl>
              <a:tblPr/>
              <a:tblGrid>
                <a:gridCol w="10972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292608">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Mode</a:t>
                      </a:r>
                      <a:endParaRPr lang="en-US" sz="12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Use Case</a:t>
                      </a:r>
                      <a:endParaRPr lang="en-US" sz="12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74320">
                <a:tc>
                  <a:txBody>
                    <a:bodyPr/>
                    <a:lstStyle/>
                    <a:p>
                      <a:pPr marL="0" indent="0" algn="ctr">
                        <a:buNone/>
                      </a:pPr>
                      <a:r>
                        <a:rPr lang="en-US" sz="1100" dirty="0">
                          <a:solidFill>
                            <a:srgbClr val="000000"/>
                          </a:solidFill>
                          <a:latin typeface="Consolas" pitchFamily="34" charset="0"/>
                          <a:ea typeface="Consolas" pitchFamily="34" charset="-122"/>
                          <a:cs typeface="Consolas" pitchFamily="34" charset="-120"/>
                        </a:rPr>
                        <a:t>"r"</a:t>
                      </a:r>
                      <a:endParaRPr lang="en-US" sz="11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Read (default)</a:t>
                      </a:r>
                      <a:endParaRPr lang="en-US" sz="11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Reading text files, configs</a:t>
                      </a:r>
                      <a:endParaRPr lang="en-US" sz="11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ctr">
                        <a:buNone/>
                      </a:pPr>
                      <a:r>
                        <a:rPr lang="en-US" sz="1100" dirty="0">
                          <a:solidFill>
                            <a:srgbClr val="000000"/>
                          </a:solidFill>
                          <a:latin typeface="Consolas" pitchFamily="34" charset="0"/>
                          <a:ea typeface="Consolas" pitchFamily="34" charset="-122"/>
                          <a:cs typeface="Consolas" pitchFamily="34" charset="-120"/>
                        </a:rPr>
                        <a:t>"w"</a:t>
                      </a:r>
                      <a:endParaRPr lang="en-US" sz="11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Write (overwrites)</a:t>
                      </a:r>
                      <a:endParaRPr lang="en-US" sz="11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Creating new files, saving results</a:t>
                      </a:r>
                      <a:endParaRPr lang="en-US" sz="11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extLst>
                  <a:ext uri="{0D108BD9-81ED-4DB2-BD59-A6C34878D82A}">
                    <a16:rowId xmlns:a16="http://schemas.microsoft.com/office/drawing/2014/main" val="10002"/>
                  </a:ext>
                </a:extLst>
              </a:tr>
              <a:tr h="274320">
                <a:tc>
                  <a:txBody>
                    <a:bodyPr/>
                    <a:lstStyle/>
                    <a:p>
                      <a:pPr marL="0" indent="0" algn="ctr">
                        <a:buNone/>
                      </a:pPr>
                      <a:r>
                        <a:rPr lang="en-US" sz="1100" dirty="0">
                          <a:solidFill>
                            <a:srgbClr val="000000"/>
                          </a:solidFill>
                          <a:latin typeface="Consolas" pitchFamily="34" charset="0"/>
                          <a:ea typeface="Consolas" pitchFamily="34" charset="-122"/>
                          <a:cs typeface="Consolas" pitchFamily="34" charset="-120"/>
                        </a:rPr>
                        <a:t>"a"</a:t>
                      </a:r>
                      <a:endParaRPr lang="en-US" sz="11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Append</a:t>
                      </a:r>
                      <a:endParaRPr lang="en-US" sz="11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Adding to log files</a:t>
                      </a:r>
                      <a:endParaRPr lang="en-US" sz="11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ctr">
                        <a:buNone/>
                      </a:pPr>
                      <a:r>
                        <a:rPr lang="en-US" sz="1100" dirty="0">
                          <a:solidFill>
                            <a:srgbClr val="000000"/>
                          </a:solidFill>
                          <a:latin typeface="Consolas" pitchFamily="34" charset="0"/>
                          <a:ea typeface="Consolas" pitchFamily="34" charset="-122"/>
                          <a:cs typeface="Consolas" pitchFamily="34" charset="-120"/>
                        </a:rPr>
                        <a:t>"rb"</a:t>
                      </a:r>
                      <a:endParaRPr lang="en-US" sz="11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Read binary</a:t>
                      </a:r>
                      <a:endParaRPr lang="en-US" sz="11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Reading images, PDFs</a:t>
                      </a:r>
                      <a:endParaRPr lang="en-US" sz="11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p:spPr>
        <p:txBody>
          <a:bodyPr/>
          <a:lstStyle/>
          <a:p>
            <a:endParaRPr lang="en-IN"/>
          </a:p>
        </p:txBody>
      </p:sp>
      <p:sp>
        <p:nvSpPr>
          <p:cNvPr id="3" name="Text 1"/>
          <p:cNvSpPr/>
          <p:nvPr/>
        </p:nvSpPr>
        <p:spPr>
          <a:xfrm>
            <a:off x="548640" y="13716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Error Handling</a:t>
            </a:r>
            <a:endParaRPr lang="en-US" sz="3200" dirty="0"/>
          </a:p>
        </p:txBody>
      </p:sp>
      <p:sp>
        <p:nvSpPr>
          <p:cNvPr id="4" name="Shape 2"/>
          <p:cNvSpPr/>
          <p:nvPr/>
        </p:nvSpPr>
        <p:spPr>
          <a:xfrm>
            <a:off x="457200" y="1188720"/>
            <a:ext cx="5303520" cy="3566160"/>
          </a:xfrm>
          <a:prstGeom prst="rect">
            <a:avLst/>
          </a:prstGeom>
          <a:solidFill>
            <a:srgbClr val="2C3E50"/>
          </a:solidFill>
          <a:ln/>
          <a:effectLst>
            <a:outerShdw blurRad="50800" dist="25400" dir="8100000" algn="bl" rotWithShape="0">
              <a:srgbClr val="000000">
                <a:alpha val="10000"/>
              </a:srgbClr>
            </a:outerShdw>
          </a:effectLst>
        </p:spPr>
        <p:txBody>
          <a:bodyPr/>
          <a:lstStyle/>
          <a:p>
            <a:endParaRPr lang="en-IN"/>
          </a:p>
        </p:txBody>
      </p:sp>
      <p:sp>
        <p:nvSpPr>
          <p:cNvPr id="5" name="Text 3"/>
          <p:cNvSpPr/>
          <p:nvPr/>
        </p:nvSpPr>
        <p:spPr>
          <a:xfrm>
            <a:off x="640080" y="1280160"/>
            <a:ext cx="4572000" cy="274320"/>
          </a:xfrm>
          <a:prstGeom prst="rect">
            <a:avLst/>
          </a:prstGeom>
          <a:noFill/>
          <a:ln/>
        </p:spPr>
        <p:txBody>
          <a:bodyPr wrap="square" lIns="0" tIns="0" rIns="0" bIns="0" rtlCol="0" anchor="ctr"/>
          <a:lstStyle/>
          <a:p>
            <a:pPr marL="0" indent="0">
              <a:buNone/>
            </a:pPr>
            <a:r>
              <a:rPr lang="en-US" sz="1100" dirty="0">
                <a:solidFill>
                  <a:srgbClr val="F0C040"/>
                </a:solidFill>
                <a:latin typeface="Consolas" pitchFamily="34" charset="0"/>
                <a:ea typeface="Consolas" pitchFamily="34" charset="-122"/>
                <a:cs typeface="Consolas" pitchFamily="34" charset="-120"/>
              </a:rPr>
              <a:t>&gt;&gt;&gt; try / except / finally</a:t>
            </a:r>
            <a:endParaRPr lang="en-US" sz="1100" dirty="0"/>
          </a:p>
        </p:txBody>
      </p:sp>
      <p:sp>
        <p:nvSpPr>
          <p:cNvPr id="6" name="Text 4"/>
          <p:cNvSpPr/>
          <p:nvPr/>
        </p:nvSpPr>
        <p:spPr>
          <a:xfrm>
            <a:off x="640080" y="1600200"/>
            <a:ext cx="4937760" cy="182880"/>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try:</a:t>
            </a:r>
            <a:endParaRPr lang="en-US" sz="1050" dirty="0"/>
          </a:p>
        </p:txBody>
      </p:sp>
      <p:sp>
        <p:nvSpPr>
          <p:cNvPr id="7" name="Text 5"/>
          <p:cNvSpPr/>
          <p:nvPr/>
        </p:nvSpPr>
        <p:spPr>
          <a:xfrm>
            <a:off x="640080" y="1801368"/>
            <a:ext cx="4937760" cy="182880"/>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    number = int(input("Enter a number: "))</a:t>
            </a:r>
            <a:endParaRPr lang="en-US" sz="1050" dirty="0"/>
          </a:p>
        </p:txBody>
      </p:sp>
      <p:sp>
        <p:nvSpPr>
          <p:cNvPr id="8" name="Text 6"/>
          <p:cNvSpPr/>
          <p:nvPr/>
        </p:nvSpPr>
        <p:spPr>
          <a:xfrm>
            <a:off x="640080" y="2002536"/>
            <a:ext cx="4937760" cy="182880"/>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    result = 100 / number</a:t>
            </a:r>
            <a:endParaRPr lang="en-US" sz="1050" dirty="0"/>
          </a:p>
        </p:txBody>
      </p:sp>
      <p:sp>
        <p:nvSpPr>
          <p:cNvPr id="9" name="Text 7"/>
          <p:cNvSpPr/>
          <p:nvPr/>
        </p:nvSpPr>
        <p:spPr>
          <a:xfrm>
            <a:off x="640080" y="2203704"/>
            <a:ext cx="4937760" cy="182880"/>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    print(f"Result: {result}")</a:t>
            </a:r>
            <a:endParaRPr lang="en-US" sz="1050" dirty="0"/>
          </a:p>
        </p:txBody>
      </p:sp>
      <p:sp>
        <p:nvSpPr>
          <p:cNvPr id="10" name="Text 8"/>
          <p:cNvSpPr/>
          <p:nvPr/>
        </p:nvSpPr>
        <p:spPr>
          <a:xfrm>
            <a:off x="640080" y="2404872"/>
            <a:ext cx="4937760" cy="182880"/>
          </a:xfrm>
          <a:prstGeom prst="rect">
            <a:avLst/>
          </a:prstGeom>
          <a:noFill/>
          <a:ln/>
        </p:spPr>
        <p:txBody>
          <a:bodyPr wrap="square" lIns="0" tIns="0" rIns="0" bIns="0" rtlCol="0" anchor="ctr"/>
          <a:lstStyle/>
          <a:p>
            <a:pPr marL="0" indent="0">
              <a:buNone/>
            </a:pPr>
            <a:endParaRPr lang="en-US" sz="1050" dirty="0"/>
          </a:p>
        </p:txBody>
      </p:sp>
      <p:sp>
        <p:nvSpPr>
          <p:cNvPr id="11" name="Text 9"/>
          <p:cNvSpPr/>
          <p:nvPr/>
        </p:nvSpPr>
        <p:spPr>
          <a:xfrm>
            <a:off x="640080" y="2606040"/>
            <a:ext cx="4937760" cy="182880"/>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except ValueError:</a:t>
            </a:r>
            <a:endParaRPr lang="en-US" sz="1050" dirty="0"/>
          </a:p>
        </p:txBody>
      </p:sp>
      <p:sp>
        <p:nvSpPr>
          <p:cNvPr id="12" name="Text 10"/>
          <p:cNvSpPr/>
          <p:nvPr/>
        </p:nvSpPr>
        <p:spPr>
          <a:xfrm>
            <a:off x="640080" y="2807208"/>
            <a:ext cx="4937760" cy="182880"/>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    print("That is not a valid number!")</a:t>
            </a:r>
            <a:endParaRPr lang="en-US" sz="1050" dirty="0"/>
          </a:p>
        </p:txBody>
      </p:sp>
      <p:sp>
        <p:nvSpPr>
          <p:cNvPr id="13" name="Text 11"/>
          <p:cNvSpPr/>
          <p:nvPr/>
        </p:nvSpPr>
        <p:spPr>
          <a:xfrm>
            <a:off x="640080" y="3008376"/>
            <a:ext cx="4937760" cy="182880"/>
          </a:xfrm>
          <a:prstGeom prst="rect">
            <a:avLst/>
          </a:prstGeom>
          <a:noFill/>
          <a:ln/>
        </p:spPr>
        <p:txBody>
          <a:bodyPr wrap="square" lIns="0" tIns="0" rIns="0" bIns="0" rtlCol="0" anchor="ctr"/>
          <a:lstStyle/>
          <a:p>
            <a:pPr marL="0" indent="0">
              <a:buNone/>
            </a:pPr>
            <a:endParaRPr lang="en-US" sz="1050" dirty="0"/>
          </a:p>
        </p:txBody>
      </p:sp>
      <p:sp>
        <p:nvSpPr>
          <p:cNvPr id="14" name="Text 12"/>
          <p:cNvSpPr/>
          <p:nvPr/>
        </p:nvSpPr>
        <p:spPr>
          <a:xfrm>
            <a:off x="640080" y="3209544"/>
            <a:ext cx="4937760" cy="182880"/>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except ZeroDivisionError:</a:t>
            </a:r>
            <a:endParaRPr lang="en-US" sz="1050" dirty="0"/>
          </a:p>
        </p:txBody>
      </p:sp>
      <p:sp>
        <p:nvSpPr>
          <p:cNvPr id="15" name="Text 13"/>
          <p:cNvSpPr/>
          <p:nvPr/>
        </p:nvSpPr>
        <p:spPr>
          <a:xfrm>
            <a:off x="640080" y="3410712"/>
            <a:ext cx="4937760" cy="182880"/>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    print("Cannot divide by zero!")</a:t>
            </a:r>
            <a:endParaRPr lang="en-US" sz="1050" dirty="0"/>
          </a:p>
        </p:txBody>
      </p:sp>
      <p:sp>
        <p:nvSpPr>
          <p:cNvPr id="16" name="Text 14"/>
          <p:cNvSpPr/>
          <p:nvPr/>
        </p:nvSpPr>
        <p:spPr>
          <a:xfrm>
            <a:off x="640080" y="3611880"/>
            <a:ext cx="4937760" cy="182880"/>
          </a:xfrm>
          <a:prstGeom prst="rect">
            <a:avLst/>
          </a:prstGeom>
          <a:noFill/>
          <a:ln/>
        </p:spPr>
        <p:txBody>
          <a:bodyPr wrap="square" lIns="0" tIns="0" rIns="0" bIns="0" rtlCol="0" anchor="ctr"/>
          <a:lstStyle/>
          <a:p>
            <a:pPr marL="0" indent="0">
              <a:buNone/>
            </a:pPr>
            <a:endParaRPr lang="en-US" sz="1050" dirty="0"/>
          </a:p>
        </p:txBody>
      </p:sp>
      <p:sp>
        <p:nvSpPr>
          <p:cNvPr id="17" name="Text 15"/>
          <p:cNvSpPr/>
          <p:nvPr/>
        </p:nvSpPr>
        <p:spPr>
          <a:xfrm>
            <a:off x="640080" y="3813048"/>
            <a:ext cx="4937760" cy="182880"/>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except Exception as ex:</a:t>
            </a:r>
            <a:endParaRPr lang="en-US" sz="1050" dirty="0"/>
          </a:p>
        </p:txBody>
      </p:sp>
      <p:sp>
        <p:nvSpPr>
          <p:cNvPr id="18" name="Text 16"/>
          <p:cNvSpPr/>
          <p:nvPr/>
        </p:nvSpPr>
        <p:spPr>
          <a:xfrm>
            <a:off x="640080" y="4014216"/>
            <a:ext cx="4937760" cy="182880"/>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    print(f"Unexpected error: {ex}")</a:t>
            </a:r>
            <a:endParaRPr lang="en-US" sz="1050" dirty="0"/>
          </a:p>
        </p:txBody>
      </p:sp>
      <p:sp>
        <p:nvSpPr>
          <p:cNvPr id="19" name="Text 17"/>
          <p:cNvSpPr/>
          <p:nvPr/>
        </p:nvSpPr>
        <p:spPr>
          <a:xfrm>
            <a:off x="640080" y="4215384"/>
            <a:ext cx="4937760" cy="182880"/>
          </a:xfrm>
          <a:prstGeom prst="rect">
            <a:avLst/>
          </a:prstGeom>
          <a:noFill/>
          <a:ln/>
        </p:spPr>
        <p:txBody>
          <a:bodyPr wrap="square" lIns="0" tIns="0" rIns="0" bIns="0" rtlCol="0" anchor="ctr"/>
          <a:lstStyle/>
          <a:p>
            <a:pPr marL="0" indent="0">
              <a:buNone/>
            </a:pPr>
            <a:endParaRPr lang="en-US" sz="1050" dirty="0"/>
          </a:p>
        </p:txBody>
      </p:sp>
      <p:sp>
        <p:nvSpPr>
          <p:cNvPr id="20" name="Text 18"/>
          <p:cNvSpPr/>
          <p:nvPr/>
        </p:nvSpPr>
        <p:spPr>
          <a:xfrm>
            <a:off x="640080" y="4416552"/>
            <a:ext cx="4937760" cy="182880"/>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finally:</a:t>
            </a:r>
            <a:endParaRPr lang="en-US" sz="1050" dirty="0"/>
          </a:p>
        </p:txBody>
      </p:sp>
      <p:sp>
        <p:nvSpPr>
          <p:cNvPr id="21" name="Text 19"/>
          <p:cNvSpPr/>
          <p:nvPr/>
        </p:nvSpPr>
        <p:spPr>
          <a:xfrm>
            <a:off x="640080" y="4617720"/>
            <a:ext cx="4937760" cy="182880"/>
          </a:xfrm>
          <a:prstGeom prst="rect">
            <a:avLst/>
          </a:prstGeom>
          <a:noFill/>
          <a:ln/>
        </p:spPr>
        <p:txBody>
          <a:bodyPr wrap="square" lIns="0" tIns="0" rIns="0" bIns="0"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    print("Done — this always runs.")</a:t>
            </a:r>
            <a:endParaRPr lang="en-US" sz="1050" dirty="0"/>
          </a:p>
        </p:txBody>
      </p:sp>
      <p:sp>
        <p:nvSpPr>
          <p:cNvPr id="22" name="Shape 20"/>
          <p:cNvSpPr/>
          <p:nvPr/>
        </p:nvSpPr>
        <p:spPr>
          <a:xfrm>
            <a:off x="6035040" y="1371600"/>
            <a:ext cx="2651760" cy="822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23" name="Shape 21"/>
          <p:cNvSpPr/>
          <p:nvPr/>
        </p:nvSpPr>
        <p:spPr>
          <a:xfrm>
            <a:off x="6035040" y="1371600"/>
            <a:ext cx="64008" cy="822960"/>
          </a:xfrm>
          <a:prstGeom prst="rect">
            <a:avLst/>
          </a:prstGeom>
          <a:solidFill>
            <a:srgbClr val="306998"/>
          </a:solidFill>
          <a:ln/>
        </p:spPr>
        <p:txBody>
          <a:bodyPr/>
          <a:lstStyle/>
          <a:p>
            <a:endParaRPr lang="en-IN"/>
          </a:p>
        </p:txBody>
      </p:sp>
      <p:sp>
        <p:nvSpPr>
          <p:cNvPr id="24" name="Text 22"/>
          <p:cNvSpPr/>
          <p:nvPr/>
        </p:nvSpPr>
        <p:spPr>
          <a:xfrm>
            <a:off x="6263640" y="1463040"/>
            <a:ext cx="2194560" cy="274320"/>
          </a:xfrm>
          <a:prstGeom prst="rect">
            <a:avLst/>
          </a:prstGeom>
          <a:noFill/>
          <a:ln/>
        </p:spPr>
        <p:txBody>
          <a:bodyPr wrap="square" lIns="0" tIns="0" rIns="0" bIns="0" rtlCol="0" anchor="ctr"/>
          <a:lstStyle/>
          <a:p>
            <a:pPr marL="0" indent="0">
              <a:buNone/>
            </a:pPr>
            <a:r>
              <a:rPr lang="en-US" sz="1600" b="1" dirty="0">
                <a:solidFill>
                  <a:srgbClr val="306998"/>
                </a:solidFill>
                <a:latin typeface="Consolas" pitchFamily="34" charset="0"/>
                <a:ea typeface="Consolas" pitchFamily="34" charset="-122"/>
                <a:cs typeface="Consolas" pitchFamily="34" charset="-120"/>
              </a:rPr>
              <a:t>try</a:t>
            </a:r>
            <a:endParaRPr lang="en-US" sz="1600" dirty="0"/>
          </a:p>
        </p:txBody>
      </p:sp>
      <p:sp>
        <p:nvSpPr>
          <p:cNvPr id="25" name="Text 23"/>
          <p:cNvSpPr/>
          <p:nvPr/>
        </p:nvSpPr>
        <p:spPr>
          <a:xfrm>
            <a:off x="6263640" y="1783080"/>
            <a:ext cx="2194560" cy="274320"/>
          </a:xfrm>
          <a:prstGeom prst="rect">
            <a:avLst/>
          </a:prstGeom>
          <a:noFill/>
          <a:ln/>
        </p:spPr>
        <p:txBody>
          <a:bodyPr wrap="square" lIns="0" tIns="0" rIns="0" bIns="0" rtlCol="0" anchor="ctr"/>
          <a:lstStyle/>
          <a:p>
            <a:pPr marL="0" indent="0">
              <a:buNone/>
            </a:pPr>
            <a:r>
              <a:rPr lang="en-US" sz="1100" dirty="0">
                <a:solidFill>
                  <a:srgbClr val="3D4F5F"/>
                </a:solidFill>
                <a:latin typeface="Calibri" pitchFamily="34" charset="0"/>
                <a:ea typeface="Calibri" pitchFamily="34" charset="-122"/>
                <a:cs typeface="Calibri" pitchFamily="34" charset="-120"/>
              </a:rPr>
              <a:t>Code that might cause an error</a:t>
            </a:r>
            <a:endParaRPr lang="en-US" sz="1100" dirty="0"/>
          </a:p>
        </p:txBody>
      </p:sp>
      <p:sp>
        <p:nvSpPr>
          <p:cNvPr id="26" name="Shape 24"/>
          <p:cNvSpPr/>
          <p:nvPr/>
        </p:nvSpPr>
        <p:spPr>
          <a:xfrm>
            <a:off x="6035040" y="2423160"/>
            <a:ext cx="2651760" cy="822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27" name="Shape 25"/>
          <p:cNvSpPr/>
          <p:nvPr/>
        </p:nvSpPr>
        <p:spPr>
          <a:xfrm>
            <a:off x="6035040" y="2423160"/>
            <a:ext cx="64008" cy="822960"/>
          </a:xfrm>
          <a:prstGeom prst="rect">
            <a:avLst/>
          </a:prstGeom>
          <a:solidFill>
            <a:srgbClr val="E74C3C"/>
          </a:solidFill>
          <a:ln/>
        </p:spPr>
        <p:txBody>
          <a:bodyPr/>
          <a:lstStyle/>
          <a:p>
            <a:endParaRPr lang="en-IN"/>
          </a:p>
        </p:txBody>
      </p:sp>
      <p:sp>
        <p:nvSpPr>
          <p:cNvPr id="28" name="Text 26"/>
          <p:cNvSpPr/>
          <p:nvPr/>
        </p:nvSpPr>
        <p:spPr>
          <a:xfrm>
            <a:off x="6263640" y="2514600"/>
            <a:ext cx="2194560" cy="274320"/>
          </a:xfrm>
          <a:prstGeom prst="rect">
            <a:avLst/>
          </a:prstGeom>
          <a:noFill/>
          <a:ln/>
        </p:spPr>
        <p:txBody>
          <a:bodyPr wrap="square" lIns="0" tIns="0" rIns="0" bIns="0" rtlCol="0" anchor="ctr"/>
          <a:lstStyle/>
          <a:p>
            <a:pPr marL="0" indent="0">
              <a:buNone/>
            </a:pPr>
            <a:r>
              <a:rPr lang="en-US" sz="1600" b="1" dirty="0">
                <a:solidFill>
                  <a:srgbClr val="E74C3C"/>
                </a:solidFill>
                <a:latin typeface="Consolas" pitchFamily="34" charset="0"/>
                <a:ea typeface="Consolas" pitchFamily="34" charset="-122"/>
                <a:cs typeface="Consolas" pitchFamily="34" charset="-120"/>
              </a:rPr>
              <a:t>except</a:t>
            </a:r>
            <a:endParaRPr lang="en-US" sz="1600" dirty="0"/>
          </a:p>
        </p:txBody>
      </p:sp>
      <p:sp>
        <p:nvSpPr>
          <p:cNvPr id="29" name="Text 27"/>
          <p:cNvSpPr/>
          <p:nvPr/>
        </p:nvSpPr>
        <p:spPr>
          <a:xfrm>
            <a:off x="6263640" y="2834640"/>
            <a:ext cx="2194560" cy="274320"/>
          </a:xfrm>
          <a:prstGeom prst="rect">
            <a:avLst/>
          </a:prstGeom>
          <a:noFill/>
          <a:ln/>
        </p:spPr>
        <p:txBody>
          <a:bodyPr wrap="square" lIns="0" tIns="0" rIns="0" bIns="0" rtlCol="0" anchor="ctr"/>
          <a:lstStyle/>
          <a:p>
            <a:pPr marL="0" indent="0">
              <a:buNone/>
            </a:pPr>
            <a:r>
              <a:rPr lang="en-US" sz="1100" dirty="0">
                <a:solidFill>
                  <a:srgbClr val="3D4F5F"/>
                </a:solidFill>
                <a:latin typeface="Calibri" pitchFamily="34" charset="0"/>
                <a:ea typeface="Calibri" pitchFamily="34" charset="-122"/>
                <a:cs typeface="Calibri" pitchFamily="34" charset="-120"/>
              </a:rPr>
              <a:t>What to do when an error occurs</a:t>
            </a:r>
            <a:endParaRPr lang="en-US" sz="1100" dirty="0"/>
          </a:p>
        </p:txBody>
      </p:sp>
      <p:sp>
        <p:nvSpPr>
          <p:cNvPr id="30" name="Shape 28"/>
          <p:cNvSpPr/>
          <p:nvPr/>
        </p:nvSpPr>
        <p:spPr>
          <a:xfrm>
            <a:off x="6035040" y="3474720"/>
            <a:ext cx="2651760" cy="822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en-IN"/>
          </a:p>
        </p:txBody>
      </p:sp>
      <p:sp>
        <p:nvSpPr>
          <p:cNvPr id="31" name="Shape 29"/>
          <p:cNvSpPr/>
          <p:nvPr/>
        </p:nvSpPr>
        <p:spPr>
          <a:xfrm>
            <a:off x="6035040" y="3474720"/>
            <a:ext cx="64008" cy="822960"/>
          </a:xfrm>
          <a:prstGeom prst="rect">
            <a:avLst/>
          </a:prstGeom>
          <a:solidFill>
            <a:srgbClr val="27AE60"/>
          </a:solidFill>
          <a:ln/>
        </p:spPr>
        <p:txBody>
          <a:bodyPr/>
          <a:lstStyle/>
          <a:p>
            <a:endParaRPr lang="en-IN"/>
          </a:p>
        </p:txBody>
      </p:sp>
      <p:sp>
        <p:nvSpPr>
          <p:cNvPr id="32" name="Text 30"/>
          <p:cNvSpPr/>
          <p:nvPr/>
        </p:nvSpPr>
        <p:spPr>
          <a:xfrm>
            <a:off x="6263640" y="3566160"/>
            <a:ext cx="2194560" cy="274320"/>
          </a:xfrm>
          <a:prstGeom prst="rect">
            <a:avLst/>
          </a:prstGeom>
          <a:noFill/>
          <a:ln/>
        </p:spPr>
        <p:txBody>
          <a:bodyPr wrap="square" lIns="0" tIns="0" rIns="0" bIns="0" rtlCol="0" anchor="ctr"/>
          <a:lstStyle/>
          <a:p>
            <a:pPr marL="0" indent="0">
              <a:buNone/>
            </a:pPr>
            <a:r>
              <a:rPr lang="en-US" sz="1600" b="1" dirty="0">
                <a:solidFill>
                  <a:srgbClr val="27AE60"/>
                </a:solidFill>
                <a:latin typeface="Consolas" pitchFamily="34" charset="0"/>
                <a:ea typeface="Consolas" pitchFamily="34" charset="-122"/>
                <a:cs typeface="Consolas" pitchFamily="34" charset="-120"/>
              </a:rPr>
              <a:t>finally</a:t>
            </a:r>
            <a:endParaRPr lang="en-US" sz="1600" dirty="0"/>
          </a:p>
        </p:txBody>
      </p:sp>
      <p:sp>
        <p:nvSpPr>
          <p:cNvPr id="33" name="Text 31"/>
          <p:cNvSpPr/>
          <p:nvPr/>
        </p:nvSpPr>
        <p:spPr>
          <a:xfrm>
            <a:off x="6263640" y="3886200"/>
            <a:ext cx="2194560" cy="274320"/>
          </a:xfrm>
          <a:prstGeom prst="rect">
            <a:avLst/>
          </a:prstGeom>
          <a:noFill/>
          <a:ln/>
        </p:spPr>
        <p:txBody>
          <a:bodyPr wrap="square" lIns="0" tIns="0" rIns="0" bIns="0" rtlCol="0" anchor="ctr"/>
          <a:lstStyle/>
          <a:p>
            <a:pPr marL="0" indent="0">
              <a:buNone/>
            </a:pPr>
            <a:r>
              <a:rPr lang="en-US" sz="1100" dirty="0">
                <a:solidFill>
                  <a:srgbClr val="3D4F5F"/>
                </a:solidFill>
                <a:latin typeface="Calibri" pitchFamily="34" charset="0"/>
                <a:ea typeface="Calibri" pitchFamily="34" charset="-122"/>
                <a:cs typeface="Calibri" pitchFamily="34" charset="-120"/>
              </a:rPr>
              <a:t>Code that ALWAYS runs (cleanup)</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p:spPr>
        <p:txBody>
          <a:bodyPr/>
          <a:lstStyle/>
          <a:p>
            <a:endParaRPr lang="en-IN"/>
          </a:p>
        </p:txBody>
      </p:sp>
      <p:sp>
        <p:nvSpPr>
          <p:cNvPr id="3" name="Text 1"/>
          <p:cNvSpPr/>
          <p:nvPr/>
        </p:nvSpPr>
        <p:spPr>
          <a:xfrm>
            <a:off x="548640" y="13716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Working with JSON</a:t>
            </a:r>
            <a:endParaRPr lang="en-US" sz="3200" dirty="0"/>
          </a:p>
        </p:txBody>
      </p:sp>
      <p:sp>
        <p:nvSpPr>
          <p:cNvPr id="4" name="Shape 2"/>
          <p:cNvSpPr/>
          <p:nvPr/>
        </p:nvSpPr>
        <p:spPr>
          <a:xfrm>
            <a:off x="457200" y="1188720"/>
            <a:ext cx="8229600" cy="3474720"/>
          </a:xfrm>
          <a:prstGeom prst="rect">
            <a:avLst/>
          </a:prstGeom>
          <a:solidFill>
            <a:srgbClr val="2C3E50"/>
          </a:solidFill>
          <a:ln/>
          <a:effectLst>
            <a:outerShdw blurRad="50800" dist="25400" dir="8100000" algn="bl" rotWithShape="0">
              <a:srgbClr val="000000">
                <a:alpha val="10000"/>
              </a:srgbClr>
            </a:outerShdw>
          </a:effectLst>
        </p:spPr>
        <p:txBody>
          <a:bodyPr/>
          <a:lstStyle/>
          <a:p>
            <a:endParaRPr lang="en-IN"/>
          </a:p>
        </p:txBody>
      </p:sp>
      <p:sp>
        <p:nvSpPr>
          <p:cNvPr id="5" name="Text 3"/>
          <p:cNvSpPr/>
          <p:nvPr/>
        </p:nvSpPr>
        <p:spPr>
          <a:xfrm>
            <a:off x="640080" y="1280160"/>
            <a:ext cx="7315200" cy="274320"/>
          </a:xfrm>
          <a:prstGeom prst="rect">
            <a:avLst/>
          </a:prstGeom>
          <a:noFill/>
          <a:ln/>
        </p:spPr>
        <p:txBody>
          <a:bodyPr wrap="square" lIns="0" tIns="0" rIns="0" bIns="0" rtlCol="0" anchor="ctr"/>
          <a:lstStyle/>
          <a:p>
            <a:pPr marL="0" indent="0">
              <a:buNone/>
            </a:pPr>
            <a:r>
              <a:rPr lang="en-US" sz="1100" dirty="0">
                <a:solidFill>
                  <a:srgbClr val="F0C040"/>
                </a:solidFill>
                <a:latin typeface="Consolas" pitchFamily="34" charset="0"/>
                <a:ea typeface="Consolas" pitchFamily="34" charset="-122"/>
                <a:cs typeface="Consolas" pitchFamily="34" charset="-120"/>
              </a:rPr>
              <a:t>&gt;&gt;&gt; JSON = JavaScript Object Notation (The Language of APIs)</a:t>
            </a:r>
            <a:endParaRPr lang="en-US" sz="1100" dirty="0"/>
          </a:p>
        </p:txBody>
      </p:sp>
      <p:sp>
        <p:nvSpPr>
          <p:cNvPr id="6" name="Text 4"/>
          <p:cNvSpPr/>
          <p:nvPr/>
        </p:nvSpPr>
        <p:spPr>
          <a:xfrm>
            <a:off x="640080" y="1645920"/>
            <a:ext cx="7772400" cy="219456"/>
          </a:xfrm>
          <a:prstGeom prst="rect">
            <a:avLst/>
          </a:prstGeom>
          <a:noFill/>
          <a:ln/>
        </p:spPr>
        <p:txBody>
          <a:bodyPr wrap="square" lIns="0" tIns="0" rIns="0" bIns="0" rtlCol="0" anchor="ctr"/>
          <a:lstStyle/>
          <a:p>
            <a:pPr marL="0" indent="0">
              <a:buNone/>
            </a:pPr>
            <a:r>
              <a:rPr lang="en-US" sz="1150" dirty="0">
                <a:solidFill>
                  <a:srgbClr val="FFFFFF"/>
                </a:solidFill>
                <a:latin typeface="Consolas" pitchFamily="34" charset="0"/>
                <a:ea typeface="Consolas" pitchFamily="34" charset="-122"/>
                <a:cs typeface="Consolas" pitchFamily="34" charset="-120"/>
              </a:rPr>
              <a:t>import json</a:t>
            </a:r>
            <a:endParaRPr lang="en-US" sz="1150" dirty="0"/>
          </a:p>
        </p:txBody>
      </p:sp>
      <p:sp>
        <p:nvSpPr>
          <p:cNvPr id="7" name="Text 5"/>
          <p:cNvSpPr/>
          <p:nvPr/>
        </p:nvSpPr>
        <p:spPr>
          <a:xfrm>
            <a:off x="640080" y="1883664"/>
            <a:ext cx="7772400" cy="219456"/>
          </a:xfrm>
          <a:prstGeom prst="rect">
            <a:avLst/>
          </a:prstGeom>
          <a:noFill/>
          <a:ln/>
        </p:spPr>
        <p:txBody>
          <a:bodyPr wrap="square" lIns="0" tIns="0" rIns="0" bIns="0" rtlCol="0" anchor="ctr"/>
          <a:lstStyle/>
          <a:p>
            <a:pPr marL="0" indent="0">
              <a:buNone/>
            </a:pPr>
            <a:endParaRPr lang="en-US" sz="1150" dirty="0"/>
          </a:p>
        </p:txBody>
      </p:sp>
      <p:sp>
        <p:nvSpPr>
          <p:cNvPr id="8" name="Text 6"/>
          <p:cNvSpPr/>
          <p:nvPr/>
        </p:nvSpPr>
        <p:spPr>
          <a:xfrm>
            <a:off x="640080" y="2121408"/>
            <a:ext cx="7772400" cy="219456"/>
          </a:xfrm>
          <a:prstGeom prst="rect">
            <a:avLst/>
          </a:prstGeom>
          <a:noFill/>
          <a:ln/>
        </p:spPr>
        <p:txBody>
          <a:bodyPr wrap="square" lIns="0" tIns="0" rIns="0" bIns="0" rtlCol="0" anchor="ctr"/>
          <a:lstStyle/>
          <a:p>
            <a:pPr marL="0" indent="0">
              <a:buNone/>
            </a:pPr>
            <a:r>
              <a:rPr lang="en-US" sz="1150" dirty="0">
                <a:solidFill>
                  <a:srgbClr val="8896A6"/>
                </a:solidFill>
                <a:latin typeface="Consolas" pitchFamily="34" charset="0"/>
                <a:ea typeface="Consolas" pitchFamily="34" charset="-122"/>
                <a:cs typeface="Consolas" pitchFamily="34" charset="-120"/>
              </a:rPr>
              <a:t># Python dict → JSON string</a:t>
            </a:r>
            <a:endParaRPr lang="en-US" sz="1150" dirty="0"/>
          </a:p>
        </p:txBody>
      </p:sp>
      <p:sp>
        <p:nvSpPr>
          <p:cNvPr id="9" name="Text 7"/>
          <p:cNvSpPr/>
          <p:nvPr/>
        </p:nvSpPr>
        <p:spPr>
          <a:xfrm>
            <a:off x="640080" y="2359152"/>
            <a:ext cx="7772400" cy="219456"/>
          </a:xfrm>
          <a:prstGeom prst="rect">
            <a:avLst/>
          </a:prstGeom>
          <a:noFill/>
          <a:ln/>
        </p:spPr>
        <p:txBody>
          <a:bodyPr wrap="square" lIns="0" tIns="0" rIns="0" bIns="0" rtlCol="0" anchor="ctr"/>
          <a:lstStyle/>
          <a:p>
            <a:pPr marL="0" indent="0">
              <a:buNone/>
            </a:pPr>
            <a:r>
              <a:rPr lang="en-US" sz="1150" dirty="0">
                <a:solidFill>
                  <a:srgbClr val="FFFFFF"/>
                </a:solidFill>
                <a:latin typeface="Consolas" pitchFamily="34" charset="0"/>
                <a:ea typeface="Consolas" pitchFamily="34" charset="-122"/>
                <a:cs typeface="Consolas" pitchFamily="34" charset="-120"/>
              </a:rPr>
              <a:t>data = {"name": "Alice", "skills": ["Python", "Azure"]}</a:t>
            </a:r>
            <a:endParaRPr lang="en-US" sz="1150" dirty="0"/>
          </a:p>
        </p:txBody>
      </p:sp>
      <p:sp>
        <p:nvSpPr>
          <p:cNvPr id="10" name="Text 8"/>
          <p:cNvSpPr/>
          <p:nvPr/>
        </p:nvSpPr>
        <p:spPr>
          <a:xfrm>
            <a:off x="640080" y="2596896"/>
            <a:ext cx="7772400" cy="219456"/>
          </a:xfrm>
          <a:prstGeom prst="rect">
            <a:avLst/>
          </a:prstGeom>
          <a:noFill/>
          <a:ln/>
        </p:spPr>
        <p:txBody>
          <a:bodyPr wrap="square" lIns="0" tIns="0" rIns="0" bIns="0" rtlCol="0" anchor="ctr"/>
          <a:lstStyle/>
          <a:p>
            <a:pPr marL="0" indent="0">
              <a:buNone/>
            </a:pPr>
            <a:r>
              <a:rPr lang="en-US" sz="1150" dirty="0">
                <a:solidFill>
                  <a:srgbClr val="FFFFFF"/>
                </a:solidFill>
                <a:latin typeface="Consolas" pitchFamily="34" charset="0"/>
                <a:ea typeface="Consolas" pitchFamily="34" charset="-122"/>
                <a:cs typeface="Consolas" pitchFamily="34" charset="-120"/>
              </a:rPr>
              <a:t>json_string = json.dumps(data, indent=2)</a:t>
            </a:r>
            <a:endParaRPr lang="en-US" sz="1150" dirty="0"/>
          </a:p>
        </p:txBody>
      </p:sp>
      <p:sp>
        <p:nvSpPr>
          <p:cNvPr id="11" name="Text 9"/>
          <p:cNvSpPr/>
          <p:nvPr/>
        </p:nvSpPr>
        <p:spPr>
          <a:xfrm>
            <a:off x="640080" y="2834640"/>
            <a:ext cx="7772400" cy="219456"/>
          </a:xfrm>
          <a:prstGeom prst="rect">
            <a:avLst/>
          </a:prstGeom>
          <a:noFill/>
          <a:ln/>
        </p:spPr>
        <p:txBody>
          <a:bodyPr wrap="square" lIns="0" tIns="0" rIns="0" bIns="0" rtlCol="0" anchor="ctr"/>
          <a:lstStyle/>
          <a:p>
            <a:pPr marL="0" indent="0">
              <a:buNone/>
            </a:pPr>
            <a:r>
              <a:rPr lang="en-US" sz="1150" dirty="0">
                <a:solidFill>
                  <a:srgbClr val="FFFFFF"/>
                </a:solidFill>
                <a:latin typeface="Consolas" pitchFamily="34" charset="0"/>
                <a:ea typeface="Consolas" pitchFamily="34" charset="-122"/>
                <a:cs typeface="Consolas" pitchFamily="34" charset="-120"/>
              </a:rPr>
              <a:t>print(json_string)</a:t>
            </a:r>
            <a:endParaRPr lang="en-US" sz="1150" dirty="0"/>
          </a:p>
        </p:txBody>
      </p:sp>
      <p:sp>
        <p:nvSpPr>
          <p:cNvPr id="12" name="Text 10"/>
          <p:cNvSpPr/>
          <p:nvPr/>
        </p:nvSpPr>
        <p:spPr>
          <a:xfrm>
            <a:off x="640080" y="3072384"/>
            <a:ext cx="7772400" cy="219456"/>
          </a:xfrm>
          <a:prstGeom prst="rect">
            <a:avLst/>
          </a:prstGeom>
          <a:noFill/>
          <a:ln/>
        </p:spPr>
        <p:txBody>
          <a:bodyPr wrap="square" lIns="0" tIns="0" rIns="0" bIns="0" rtlCol="0" anchor="ctr"/>
          <a:lstStyle/>
          <a:p>
            <a:pPr marL="0" indent="0">
              <a:buNone/>
            </a:pPr>
            <a:endParaRPr lang="en-US" sz="1150" dirty="0"/>
          </a:p>
        </p:txBody>
      </p:sp>
      <p:sp>
        <p:nvSpPr>
          <p:cNvPr id="13" name="Text 11"/>
          <p:cNvSpPr/>
          <p:nvPr/>
        </p:nvSpPr>
        <p:spPr>
          <a:xfrm>
            <a:off x="640080" y="3310128"/>
            <a:ext cx="7772400" cy="219456"/>
          </a:xfrm>
          <a:prstGeom prst="rect">
            <a:avLst/>
          </a:prstGeom>
          <a:noFill/>
          <a:ln/>
        </p:spPr>
        <p:txBody>
          <a:bodyPr wrap="square" lIns="0" tIns="0" rIns="0" bIns="0" rtlCol="0" anchor="ctr"/>
          <a:lstStyle/>
          <a:p>
            <a:pPr marL="0" indent="0">
              <a:buNone/>
            </a:pPr>
            <a:r>
              <a:rPr lang="en-US" sz="1150" dirty="0">
                <a:solidFill>
                  <a:srgbClr val="8896A6"/>
                </a:solidFill>
                <a:latin typeface="Consolas" pitchFamily="34" charset="0"/>
                <a:ea typeface="Consolas" pitchFamily="34" charset="-122"/>
                <a:cs typeface="Consolas" pitchFamily="34" charset="-120"/>
              </a:rPr>
              <a:t># JSON string → Python dict</a:t>
            </a:r>
            <a:endParaRPr lang="en-US" sz="1150" dirty="0"/>
          </a:p>
        </p:txBody>
      </p:sp>
      <p:sp>
        <p:nvSpPr>
          <p:cNvPr id="14" name="Text 12"/>
          <p:cNvSpPr/>
          <p:nvPr/>
        </p:nvSpPr>
        <p:spPr>
          <a:xfrm>
            <a:off x="640080" y="3547872"/>
            <a:ext cx="7772400" cy="219456"/>
          </a:xfrm>
          <a:prstGeom prst="rect">
            <a:avLst/>
          </a:prstGeom>
          <a:noFill/>
          <a:ln/>
        </p:spPr>
        <p:txBody>
          <a:bodyPr wrap="square" lIns="0" tIns="0" rIns="0" bIns="0" rtlCol="0" anchor="ctr"/>
          <a:lstStyle/>
          <a:p>
            <a:pPr marL="0" indent="0">
              <a:buNone/>
            </a:pPr>
            <a:r>
              <a:rPr lang="en-US" sz="1150" dirty="0">
                <a:solidFill>
                  <a:srgbClr val="FFFFFF"/>
                </a:solidFill>
                <a:latin typeface="Consolas" pitchFamily="34" charset="0"/>
                <a:ea typeface="Consolas" pitchFamily="34" charset="-122"/>
                <a:cs typeface="Consolas" pitchFamily="34" charset="-120"/>
              </a:rPr>
              <a:t>parsed = json.loads(json_string)</a:t>
            </a:r>
            <a:endParaRPr lang="en-US" sz="1150" dirty="0"/>
          </a:p>
        </p:txBody>
      </p:sp>
      <p:sp>
        <p:nvSpPr>
          <p:cNvPr id="15" name="Text 13"/>
          <p:cNvSpPr/>
          <p:nvPr/>
        </p:nvSpPr>
        <p:spPr>
          <a:xfrm>
            <a:off x="640080" y="3785616"/>
            <a:ext cx="7772400" cy="219456"/>
          </a:xfrm>
          <a:prstGeom prst="rect">
            <a:avLst/>
          </a:prstGeom>
          <a:noFill/>
          <a:ln/>
        </p:spPr>
        <p:txBody>
          <a:bodyPr wrap="square" lIns="0" tIns="0" rIns="0" bIns="0" rtlCol="0" anchor="ctr"/>
          <a:lstStyle/>
          <a:p>
            <a:pPr marL="0" indent="0">
              <a:buNone/>
            </a:pPr>
            <a:r>
              <a:rPr lang="en-US" sz="1150" dirty="0">
                <a:solidFill>
                  <a:srgbClr val="FFFFFF"/>
                </a:solidFill>
                <a:latin typeface="Consolas" pitchFamily="34" charset="0"/>
                <a:ea typeface="Consolas" pitchFamily="34" charset="-122"/>
                <a:cs typeface="Consolas" pitchFamily="34" charset="-120"/>
              </a:rPr>
              <a:t>print(parsed["skills"][0])  # Python</a:t>
            </a:r>
            <a:endParaRPr lang="en-US" sz="1150" dirty="0"/>
          </a:p>
        </p:txBody>
      </p:sp>
      <p:sp>
        <p:nvSpPr>
          <p:cNvPr id="16" name="Text 14"/>
          <p:cNvSpPr/>
          <p:nvPr/>
        </p:nvSpPr>
        <p:spPr>
          <a:xfrm>
            <a:off x="640080" y="4023360"/>
            <a:ext cx="7772400" cy="219456"/>
          </a:xfrm>
          <a:prstGeom prst="rect">
            <a:avLst/>
          </a:prstGeom>
          <a:noFill/>
          <a:ln/>
        </p:spPr>
        <p:txBody>
          <a:bodyPr wrap="square" lIns="0" tIns="0" rIns="0" bIns="0" rtlCol="0" anchor="ctr"/>
          <a:lstStyle/>
          <a:p>
            <a:pPr marL="0" indent="0">
              <a:buNone/>
            </a:pPr>
            <a:endParaRPr lang="en-US" sz="1150" dirty="0"/>
          </a:p>
        </p:txBody>
      </p:sp>
      <p:sp>
        <p:nvSpPr>
          <p:cNvPr id="17" name="Text 15"/>
          <p:cNvSpPr/>
          <p:nvPr/>
        </p:nvSpPr>
        <p:spPr>
          <a:xfrm>
            <a:off x="640080" y="4160520"/>
            <a:ext cx="7772400" cy="219456"/>
          </a:xfrm>
          <a:prstGeom prst="rect">
            <a:avLst/>
          </a:prstGeom>
          <a:noFill/>
          <a:ln/>
        </p:spPr>
        <p:txBody>
          <a:bodyPr wrap="square" lIns="0" tIns="0" rIns="0" bIns="0" rtlCol="0" anchor="ctr"/>
          <a:lstStyle/>
          <a:p>
            <a:pPr marL="0" indent="0">
              <a:buNone/>
            </a:pPr>
            <a:r>
              <a:rPr lang="en-US" sz="1150" dirty="0">
                <a:solidFill>
                  <a:srgbClr val="8896A6"/>
                </a:solidFill>
                <a:latin typeface="Consolas" pitchFamily="34" charset="0"/>
                <a:ea typeface="Consolas" pitchFamily="34" charset="-122"/>
                <a:cs typeface="Consolas" pitchFamily="34" charset="-120"/>
              </a:rPr>
              <a:t># Read JSON file</a:t>
            </a:r>
            <a:endParaRPr lang="en-US" sz="1150" dirty="0"/>
          </a:p>
        </p:txBody>
      </p:sp>
      <p:sp>
        <p:nvSpPr>
          <p:cNvPr id="18" name="Text 16"/>
          <p:cNvSpPr/>
          <p:nvPr/>
        </p:nvSpPr>
        <p:spPr>
          <a:xfrm>
            <a:off x="640080" y="4379976"/>
            <a:ext cx="7772400" cy="219456"/>
          </a:xfrm>
          <a:prstGeom prst="rect">
            <a:avLst/>
          </a:prstGeom>
          <a:noFill/>
          <a:ln/>
        </p:spPr>
        <p:txBody>
          <a:bodyPr wrap="square" lIns="0" tIns="0" rIns="0" bIns="0" rtlCol="0" anchor="ctr"/>
          <a:lstStyle/>
          <a:p>
            <a:pPr marL="0" indent="0">
              <a:buNone/>
            </a:pPr>
            <a:r>
              <a:rPr lang="en-US" sz="1150" dirty="0">
                <a:solidFill>
                  <a:srgbClr val="FFFFFF"/>
                </a:solidFill>
                <a:latin typeface="Consolas" pitchFamily="34" charset="0"/>
                <a:ea typeface="Consolas" pitchFamily="34" charset="-122"/>
                <a:cs typeface="Consolas" pitchFamily="34" charset="-120"/>
              </a:rPr>
              <a:t>with open("config.json", "r") as f:</a:t>
            </a:r>
            <a:endParaRPr lang="en-US" sz="1150" dirty="0"/>
          </a:p>
        </p:txBody>
      </p:sp>
      <p:sp>
        <p:nvSpPr>
          <p:cNvPr id="19" name="Text 17"/>
          <p:cNvSpPr/>
          <p:nvPr/>
        </p:nvSpPr>
        <p:spPr>
          <a:xfrm>
            <a:off x="640080" y="4736592"/>
            <a:ext cx="7772400" cy="219456"/>
          </a:xfrm>
          <a:prstGeom prst="rect">
            <a:avLst/>
          </a:prstGeom>
          <a:noFill/>
          <a:ln/>
        </p:spPr>
        <p:txBody>
          <a:bodyPr wrap="square" lIns="0" tIns="0" rIns="0" bIns="0" rtlCol="0" anchor="ctr"/>
          <a:lstStyle/>
          <a:p>
            <a:pPr marL="0" indent="0">
              <a:buNone/>
            </a:pPr>
            <a:r>
              <a:rPr lang="en-US" sz="1150" dirty="0">
                <a:solidFill>
                  <a:srgbClr val="FFFFFF"/>
                </a:solidFill>
                <a:latin typeface="Consolas" pitchFamily="34" charset="0"/>
                <a:ea typeface="Consolas" pitchFamily="34" charset="-122"/>
                <a:cs typeface="Consolas" pitchFamily="34" charset="-120"/>
              </a:rPr>
              <a:t>    config = json.load(f)</a:t>
            </a:r>
            <a:endParaRPr lang="en-US" sz="1150" dirty="0"/>
          </a:p>
        </p:txBody>
      </p:sp>
      <p:sp>
        <p:nvSpPr>
          <p:cNvPr id="20" name="Shape 18"/>
          <p:cNvSpPr/>
          <p:nvPr/>
        </p:nvSpPr>
        <p:spPr>
          <a:xfrm>
            <a:off x="454297" y="4736592"/>
            <a:ext cx="8229600" cy="320040"/>
          </a:xfrm>
          <a:prstGeom prst="rect">
            <a:avLst/>
          </a:prstGeom>
          <a:solidFill>
            <a:srgbClr val="1B2A4A">
              <a:alpha val="8000"/>
            </a:srgbClr>
          </a:solidFill>
          <a:ln/>
        </p:spPr>
        <p:txBody>
          <a:bodyPr/>
          <a:lstStyle/>
          <a:p>
            <a:endParaRPr lang="en-IN"/>
          </a:p>
        </p:txBody>
      </p:sp>
      <p:sp>
        <p:nvSpPr>
          <p:cNvPr id="21" name="Text 19"/>
          <p:cNvSpPr/>
          <p:nvPr/>
        </p:nvSpPr>
        <p:spPr>
          <a:xfrm>
            <a:off x="411480" y="4754880"/>
            <a:ext cx="7772400" cy="320040"/>
          </a:xfrm>
          <a:prstGeom prst="rect">
            <a:avLst/>
          </a:prstGeom>
          <a:noFill/>
          <a:ln/>
        </p:spPr>
        <p:txBody>
          <a:bodyPr wrap="square" lIns="0" tIns="0" rIns="0" bIns="0" rtlCol="0" anchor="ctr"/>
          <a:lstStyle/>
          <a:p>
            <a:pPr marL="0" indent="0">
              <a:buNone/>
            </a:pPr>
            <a:r>
              <a:rPr lang="en-US" sz="1200" dirty="0">
                <a:solidFill>
                  <a:srgbClr val="000000"/>
                </a:solidFill>
              </a:rPr>
              <a:t>💡 </a:t>
            </a:r>
            <a:r>
              <a:rPr lang="en-US" sz="1200" dirty="0">
                <a:solidFill>
                  <a:srgbClr val="1B2A4A"/>
                </a:solidFill>
                <a:latin typeface="Consolas" pitchFamily="34" charset="0"/>
                <a:ea typeface="Consolas" pitchFamily="34" charset="-122"/>
                <a:cs typeface="Consolas" pitchFamily="34" charset="-120"/>
              </a:rPr>
              <a:t>json.dumps() = dict → string  |  json.loads() = string → dict  |  Think: s = string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p:spPr>
        <p:txBody>
          <a:bodyPr/>
          <a:lstStyle/>
          <a:p>
            <a:endParaRPr lang="en-IN"/>
          </a:p>
        </p:txBody>
      </p:sp>
      <p:sp>
        <p:nvSpPr>
          <p:cNvPr id="3" name="Text 1"/>
          <p:cNvSpPr/>
          <p:nvPr/>
        </p:nvSpPr>
        <p:spPr>
          <a:xfrm>
            <a:off x="548640" y="13716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REST APIs with Python</a:t>
            </a:r>
            <a:endParaRPr lang="en-US" sz="3200" dirty="0"/>
          </a:p>
        </p:txBody>
      </p:sp>
      <p:sp>
        <p:nvSpPr>
          <p:cNvPr id="4" name="Shape 2"/>
          <p:cNvSpPr/>
          <p:nvPr/>
        </p:nvSpPr>
        <p:spPr>
          <a:xfrm>
            <a:off x="457200" y="1188720"/>
            <a:ext cx="8229600" cy="3566160"/>
          </a:xfrm>
          <a:prstGeom prst="rect">
            <a:avLst/>
          </a:prstGeom>
          <a:solidFill>
            <a:srgbClr val="2C3E50"/>
          </a:solidFill>
          <a:ln/>
          <a:effectLst>
            <a:outerShdw blurRad="50800" dist="25400" dir="8100000" algn="bl" rotWithShape="0">
              <a:srgbClr val="000000">
                <a:alpha val="10000"/>
              </a:srgbClr>
            </a:outerShdw>
          </a:effectLst>
        </p:spPr>
        <p:txBody>
          <a:bodyPr/>
          <a:lstStyle/>
          <a:p>
            <a:endParaRPr lang="en-IN"/>
          </a:p>
        </p:txBody>
      </p:sp>
      <p:sp>
        <p:nvSpPr>
          <p:cNvPr id="5" name="Text 3"/>
          <p:cNvSpPr/>
          <p:nvPr/>
        </p:nvSpPr>
        <p:spPr>
          <a:xfrm>
            <a:off x="640080" y="1280160"/>
            <a:ext cx="7315200" cy="274320"/>
          </a:xfrm>
          <a:prstGeom prst="rect">
            <a:avLst/>
          </a:prstGeom>
          <a:noFill/>
          <a:ln/>
        </p:spPr>
        <p:txBody>
          <a:bodyPr wrap="square" lIns="0" tIns="0" rIns="0" bIns="0" rtlCol="0" anchor="ctr"/>
          <a:lstStyle/>
          <a:p>
            <a:pPr marL="0" indent="0">
              <a:buNone/>
            </a:pPr>
            <a:r>
              <a:rPr lang="en-US" sz="1100" dirty="0">
                <a:solidFill>
                  <a:srgbClr val="F0C040"/>
                </a:solidFill>
                <a:latin typeface="Consolas" pitchFamily="34" charset="0"/>
                <a:ea typeface="Consolas" pitchFamily="34" charset="-122"/>
                <a:cs typeface="Consolas" pitchFamily="34" charset="-120"/>
              </a:rPr>
              <a:t>&gt;&gt;&gt; Making HTTP Requests with the requests Library</a:t>
            </a:r>
            <a:endParaRPr lang="en-US" sz="1100" dirty="0"/>
          </a:p>
        </p:txBody>
      </p:sp>
      <p:sp>
        <p:nvSpPr>
          <p:cNvPr id="6" name="Text 4"/>
          <p:cNvSpPr/>
          <p:nvPr/>
        </p:nvSpPr>
        <p:spPr>
          <a:xfrm>
            <a:off x="640080" y="1645920"/>
            <a:ext cx="7772400" cy="201168"/>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import requests</a:t>
            </a:r>
            <a:endParaRPr lang="en-US" sz="1100" dirty="0"/>
          </a:p>
        </p:txBody>
      </p:sp>
      <p:sp>
        <p:nvSpPr>
          <p:cNvPr id="7" name="Text 5"/>
          <p:cNvSpPr/>
          <p:nvPr/>
        </p:nvSpPr>
        <p:spPr>
          <a:xfrm>
            <a:off x="640080" y="1865376"/>
            <a:ext cx="7772400" cy="201168"/>
          </a:xfrm>
          <a:prstGeom prst="rect">
            <a:avLst/>
          </a:prstGeom>
          <a:noFill/>
          <a:ln/>
        </p:spPr>
        <p:txBody>
          <a:bodyPr wrap="square" lIns="0" tIns="0" rIns="0" bIns="0" rtlCol="0" anchor="ctr"/>
          <a:lstStyle/>
          <a:p>
            <a:pPr marL="0" indent="0">
              <a:buNone/>
            </a:pPr>
            <a:endParaRPr lang="en-US" sz="1100" dirty="0"/>
          </a:p>
        </p:txBody>
      </p:sp>
      <p:sp>
        <p:nvSpPr>
          <p:cNvPr id="8" name="Text 6"/>
          <p:cNvSpPr/>
          <p:nvPr/>
        </p:nvSpPr>
        <p:spPr>
          <a:xfrm>
            <a:off x="640080" y="2084832"/>
            <a:ext cx="7772400" cy="201168"/>
          </a:xfrm>
          <a:prstGeom prst="rect">
            <a:avLst/>
          </a:prstGeom>
          <a:noFill/>
          <a:ln/>
        </p:spPr>
        <p:txBody>
          <a:bodyPr wrap="square" lIns="0" tIns="0" rIns="0" bIns="0" rtlCol="0" anchor="ctr"/>
          <a:lstStyle/>
          <a:p>
            <a:pPr marL="0" indent="0">
              <a:buNone/>
            </a:pPr>
            <a:r>
              <a:rPr lang="en-US" sz="1100" dirty="0">
                <a:solidFill>
                  <a:srgbClr val="8896A6"/>
                </a:solidFill>
                <a:latin typeface="Consolas" pitchFamily="34" charset="0"/>
                <a:ea typeface="Consolas" pitchFamily="34" charset="-122"/>
                <a:cs typeface="Consolas" pitchFamily="34" charset="-120"/>
              </a:rPr>
              <a:t># Define the request</a:t>
            </a:r>
            <a:endParaRPr lang="en-US" sz="1100" dirty="0"/>
          </a:p>
        </p:txBody>
      </p:sp>
      <p:sp>
        <p:nvSpPr>
          <p:cNvPr id="9" name="Text 7"/>
          <p:cNvSpPr/>
          <p:nvPr/>
        </p:nvSpPr>
        <p:spPr>
          <a:xfrm>
            <a:off x="640080" y="2304288"/>
            <a:ext cx="7772400" cy="201168"/>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url = "https://api.example.com/data"</a:t>
            </a:r>
            <a:endParaRPr lang="en-US" sz="1100" dirty="0"/>
          </a:p>
        </p:txBody>
      </p:sp>
      <p:sp>
        <p:nvSpPr>
          <p:cNvPr id="10" name="Text 8"/>
          <p:cNvSpPr/>
          <p:nvPr/>
        </p:nvSpPr>
        <p:spPr>
          <a:xfrm>
            <a:off x="640080" y="2523744"/>
            <a:ext cx="7772400" cy="201168"/>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headers = {</a:t>
            </a:r>
            <a:endParaRPr lang="en-US" sz="1100" dirty="0"/>
          </a:p>
        </p:txBody>
      </p:sp>
      <p:sp>
        <p:nvSpPr>
          <p:cNvPr id="11" name="Text 9"/>
          <p:cNvSpPr/>
          <p:nvPr/>
        </p:nvSpPr>
        <p:spPr>
          <a:xfrm>
            <a:off x="640080" y="2743200"/>
            <a:ext cx="7772400" cy="201168"/>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    "Content-Type": "application/json",</a:t>
            </a:r>
            <a:endParaRPr lang="en-US" sz="1100" dirty="0"/>
          </a:p>
        </p:txBody>
      </p:sp>
      <p:sp>
        <p:nvSpPr>
          <p:cNvPr id="12" name="Text 10"/>
          <p:cNvSpPr/>
          <p:nvPr/>
        </p:nvSpPr>
        <p:spPr>
          <a:xfrm>
            <a:off x="640080" y="2962656"/>
            <a:ext cx="7772400" cy="201168"/>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    "Authorization": "Bearer YOUR_KEY"</a:t>
            </a:r>
            <a:endParaRPr lang="en-US" sz="1100" dirty="0"/>
          </a:p>
        </p:txBody>
      </p:sp>
      <p:sp>
        <p:nvSpPr>
          <p:cNvPr id="13" name="Text 11"/>
          <p:cNvSpPr/>
          <p:nvPr/>
        </p:nvSpPr>
        <p:spPr>
          <a:xfrm>
            <a:off x="640080" y="3182112"/>
            <a:ext cx="7772400" cy="201168"/>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a:t>
            </a:r>
            <a:endParaRPr lang="en-US" sz="1100" dirty="0"/>
          </a:p>
        </p:txBody>
      </p:sp>
      <p:sp>
        <p:nvSpPr>
          <p:cNvPr id="14" name="Text 12"/>
          <p:cNvSpPr/>
          <p:nvPr/>
        </p:nvSpPr>
        <p:spPr>
          <a:xfrm>
            <a:off x="640080" y="3401568"/>
            <a:ext cx="7772400" cy="201168"/>
          </a:xfrm>
          <a:prstGeom prst="rect">
            <a:avLst/>
          </a:prstGeom>
          <a:noFill/>
          <a:ln/>
        </p:spPr>
        <p:txBody>
          <a:bodyPr wrap="square" lIns="0" tIns="0" rIns="0" bIns="0" rtlCol="0" anchor="ctr"/>
          <a:lstStyle/>
          <a:p>
            <a:pPr marL="0" indent="0">
              <a:buNone/>
            </a:pPr>
            <a:endParaRPr lang="en-US" sz="1100" dirty="0"/>
          </a:p>
        </p:txBody>
      </p:sp>
      <p:sp>
        <p:nvSpPr>
          <p:cNvPr id="15" name="Text 13"/>
          <p:cNvSpPr/>
          <p:nvPr/>
        </p:nvSpPr>
        <p:spPr>
          <a:xfrm>
            <a:off x="640080" y="3621024"/>
            <a:ext cx="7772400" cy="201168"/>
          </a:xfrm>
          <a:prstGeom prst="rect">
            <a:avLst/>
          </a:prstGeom>
          <a:noFill/>
          <a:ln/>
        </p:spPr>
        <p:txBody>
          <a:bodyPr wrap="square" lIns="0" tIns="0" rIns="0" bIns="0" rtlCol="0" anchor="ctr"/>
          <a:lstStyle/>
          <a:p>
            <a:pPr marL="0" indent="0">
              <a:buNone/>
            </a:pPr>
            <a:r>
              <a:rPr lang="en-US" sz="1100" dirty="0">
                <a:solidFill>
                  <a:srgbClr val="8896A6"/>
                </a:solidFill>
                <a:latin typeface="Consolas" pitchFamily="34" charset="0"/>
                <a:ea typeface="Consolas" pitchFamily="34" charset="-122"/>
                <a:cs typeface="Consolas" pitchFamily="34" charset="-120"/>
              </a:rPr>
              <a:t># Send GET request</a:t>
            </a:r>
            <a:endParaRPr lang="en-US" sz="1100" dirty="0"/>
          </a:p>
        </p:txBody>
      </p:sp>
      <p:sp>
        <p:nvSpPr>
          <p:cNvPr id="16" name="Text 14"/>
          <p:cNvSpPr/>
          <p:nvPr/>
        </p:nvSpPr>
        <p:spPr>
          <a:xfrm>
            <a:off x="640080" y="3840480"/>
            <a:ext cx="7772400" cy="201168"/>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response = requests.get(url, headers=headers)</a:t>
            </a:r>
            <a:endParaRPr lang="en-US" sz="1100" dirty="0"/>
          </a:p>
        </p:txBody>
      </p:sp>
      <p:sp>
        <p:nvSpPr>
          <p:cNvPr id="17" name="Text 15"/>
          <p:cNvSpPr/>
          <p:nvPr/>
        </p:nvSpPr>
        <p:spPr>
          <a:xfrm>
            <a:off x="640080" y="4059936"/>
            <a:ext cx="7772400" cy="201168"/>
          </a:xfrm>
          <a:prstGeom prst="rect">
            <a:avLst/>
          </a:prstGeom>
          <a:noFill/>
          <a:ln/>
        </p:spPr>
        <p:txBody>
          <a:bodyPr wrap="square" lIns="0" tIns="0" rIns="0" bIns="0" rtlCol="0" anchor="ctr"/>
          <a:lstStyle/>
          <a:p>
            <a:pPr marL="0" indent="0">
              <a:buNone/>
            </a:pPr>
            <a:endParaRPr lang="en-US" sz="1100" dirty="0"/>
          </a:p>
        </p:txBody>
      </p:sp>
      <p:sp>
        <p:nvSpPr>
          <p:cNvPr id="18" name="Text 16"/>
          <p:cNvSpPr/>
          <p:nvPr/>
        </p:nvSpPr>
        <p:spPr>
          <a:xfrm>
            <a:off x="640080" y="4279392"/>
            <a:ext cx="7772400" cy="201168"/>
          </a:xfrm>
          <a:prstGeom prst="rect">
            <a:avLst/>
          </a:prstGeom>
          <a:noFill/>
          <a:ln/>
        </p:spPr>
        <p:txBody>
          <a:bodyPr wrap="square" lIns="0" tIns="0" rIns="0" bIns="0" rtlCol="0" anchor="ctr"/>
          <a:lstStyle/>
          <a:p>
            <a:pPr marL="0" indent="0">
              <a:buNone/>
            </a:pPr>
            <a:r>
              <a:rPr lang="en-US" sz="1100" dirty="0">
                <a:solidFill>
                  <a:srgbClr val="8896A6"/>
                </a:solidFill>
                <a:latin typeface="Consolas" pitchFamily="34" charset="0"/>
                <a:ea typeface="Consolas" pitchFamily="34" charset="-122"/>
                <a:cs typeface="Consolas" pitchFamily="34" charset="-120"/>
              </a:rPr>
              <a:t># Check response</a:t>
            </a:r>
            <a:endParaRPr lang="en-US" sz="1100" dirty="0"/>
          </a:p>
        </p:txBody>
      </p:sp>
      <p:sp>
        <p:nvSpPr>
          <p:cNvPr id="19" name="Text 17"/>
          <p:cNvSpPr/>
          <p:nvPr/>
        </p:nvSpPr>
        <p:spPr>
          <a:xfrm>
            <a:off x="640080" y="4498848"/>
            <a:ext cx="7772400" cy="201168"/>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if response.status_code == 200:</a:t>
            </a:r>
            <a:endParaRPr lang="en-US" sz="1100" dirty="0"/>
          </a:p>
        </p:txBody>
      </p:sp>
      <p:sp>
        <p:nvSpPr>
          <p:cNvPr id="20" name="Text 18"/>
          <p:cNvSpPr/>
          <p:nvPr/>
        </p:nvSpPr>
        <p:spPr>
          <a:xfrm>
            <a:off x="640080" y="4718304"/>
            <a:ext cx="7772400" cy="201168"/>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    data = response.json()  # Parse JSON response</a:t>
            </a:r>
            <a:endParaRPr lang="en-US" sz="1100" dirty="0"/>
          </a:p>
        </p:txBody>
      </p:sp>
      <p:sp>
        <p:nvSpPr>
          <p:cNvPr id="21" name="Text 19"/>
          <p:cNvSpPr/>
          <p:nvPr/>
        </p:nvSpPr>
        <p:spPr>
          <a:xfrm>
            <a:off x="640080" y="4937760"/>
            <a:ext cx="7772400" cy="201168"/>
          </a:xfrm>
          <a:prstGeom prst="rect">
            <a:avLst/>
          </a:prstGeom>
          <a:noFill/>
          <a:ln/>
        </p:spPr>
        <p:txBody>
          <a:bodyPr wrap="square" lIns="0" tIns="0" rIns="0" bIns="0"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    print(data)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p:spPr>
        <p:txBody>
          <a:bodyPr/>
          <a:lstStyle/>
          <a:p>
            <a:endParaRPr lang="en-IN"/>
          </a:p>
        </p:txBody>
      </p:sp>
      <p:sp>
        <p:nvSpPr>
          <p:cNvPr id="3" name="Text 1"/>
          <p:cNvSpPr/>
          <p:nvPr/>
        </p:nvSpPr>
        <p:spPr>
          <a:xfrm>
            <a:off x="548640" y="13716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Python Quick Reference</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3200400"/>
        </p:xfrm>
        <a:graphic>
          <a:graphicData uri="http://schemas.openxmlformats.org/drawingml/2006/table">
            <a:tbl>
              <a:tblPr/>
              <a:tblGrid>
                <a:gridCol w="16459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2004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Syntax</a:t>
                      </a:r>
                      <a:endParaRPr lang="en-US" sz="12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2004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name = value</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city = "Mumbai"</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f-String</a:t>
                      </a:r>
                      <a:endParaRPr lang="en-US" sz="11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f"text {var}"</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f"Hello, {name}!"</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extLst>
                  <a:ext uri="{0D108BD9-81ED-4DB2-BD59-A6C34878D82A}">
                    <a16:rowId xmlns:a16="http://schemas.microsoft.com/office/drawing/2014/main" val="10002"/>
                  </a:ext>
                </a:extLst>
              </a:tr>
              <a:tr h="32004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List</a:t>
                      </a:r>
                      <a:endParaRPr lang="en-US" sz="11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[item1, item2]</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langs = ["Python", "C#"]</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Dictionary</a:t>
                      </a:r>
                      <a:endParaRPr lang="en-US" sz="11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{"key": "value"}</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{"name": "Alice", "age": 30}</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extLst>
                  <a:ext uri="{0D108BD9-81ED-4DB2-BD59-A6C34878D82A}">
                    <a16:rowId xmlns:a16="http://schemas.microsoft.com/office/drawing/2014/main" val="10004"/>
                  </a:ext>
                </a:extLst>
              </a:tr>
              <a:tr h="32004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Function</a:t>
                      </a:r>
                      <a:endParaRPr lang="en-US" sz="11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def name(params):</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def greet(name): return f"Hi {name}"</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for Loop</a:t>
                      </a:r>
                      <a:endParaRPr lang="en-US" sz="11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for item in list:</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for x in items: print(x)</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extLst>
                  <a:ext uri="{0D108BD9-81ED-4DB2-BD59-A6C34878D82A}">
                    <a16:rowId xmlns:a16="http://schemas.microsoft.com/office/drawing/2014/main" val="10006"/>
                  </a:ext>
                </a:extLst>
              </a:tr>
              <a:tr h="32004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Try/Except</a:t>
                      </a:r>
                      <a:endParaRPr lang="en-US" sz="11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try: ... except:</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try: x=1/0 except: print("err")</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004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File Read</a:t>
                      </a:r>
                      <a:endParaRPr lang="en-US" sz="11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with open("f") as f:</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with open("d.txt") as f: f.read()</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7F8FC"/>
                    </a:solidFill>
                  </a:tcPr>
                </a:tc>
                <a:extLst>
                  <a:ext uri="{0D108BD9-81ED-4DB2-BD59-A6C34878D82A}">
                    <a16:rowId xmlns:a16="http://schemas.microsoft.com/office/drawing/2014/main" val="10008"/>
                  </a:ext>
                </a:extLst>
              </a:tr>
              <a:tr h="320040">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Import</a:t>
                      </a:r>
                      <a:endParaRPr lang="en-US" sz="1100" dirty="0">
                        <a:latin typeface="Calibri" charset="0"/>
                        <a:ea typeface="Calibri" charset="0"/>
                        <a:cs typeface="Calibri"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import module</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onsolas" pitchFamily="34" charset="0"/>
                          <a:ea typeface="Consolas" pitchFamily="34" charset="-122"/>
                          <a:cs typeface="Consolas" pitchFamily="34" charset="-120"/>
                        </a:rPr>
                        <a:t>import json; from os import path</a:t>
                      </a:r>
                      <a:endParaRPr lang="en-US" sz="1000" dirty="0">
                        <a:latin typeface="Consolas" charset="0"/>
                        <a:ea typeface="Consolas" charset="0"/>
                        <a:cs typeface="Consolas" charset="0"/>
                      </a:endParaRPr>
                    </a:p>
                  </a:txBody>
                  <a:tcPr>
                    <a:lnL w="6350" cap="flat" cmpd="sng" algn="ctr">
                      <a:solidFill>
                        <a:srgbClr val="E8ECF1"/>
                      </a:solidFill>
                      <a:prstDash val="solid"/>
                      <a:round/>
                      <a:headEnd type="none" w="med" len="med"/>
                      <a:tailEnd type="none" w="med" len="med"/>
                    </a:lnL>
                    <a:lnR w="6350" cap="flat" cmpd="sng" algn="ctr">
                      <a:solidFill>
                        <a:srgbClr val="E8ECF1"/>
                      </a:solidFill>
                      <a:prstDash val="solid"/>
                      <a:round/>
                      <a:headEnd type="none" w="med" len="med"/>
                      <a:tailEnd type="none" w="med" len="med"/>
                    </a:lnR>
                    <a:lnT w="6350" cap="flat" cmpd="sng" algn="ctr">
                      <a:solidFill>
                        <a:srgbClr val="E8ECF1"/>
                      </a:solidFill>
                      <a:prstDash val="solid"/>
                      <a:round/>
                      <a:headEnd type="none" w="med" len="med"/>
                      <a:tailEnd type="none" w="med" len="med"/>
                    </a:lnT>
                    <a:lnB w="6350" cap="flat" cmpd="sng" algn="ctr">
                      <a:solidFill>
                        <a:srgbClr val="E8ECF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D43B"/>
          </a:solidFill>
          <a:ln/>
        </p:spPr>
        <p:txBody>
          <a:bodyPr/>
          <a:lstStyle/>
          <a:p>
            <a:endParaRPr lang="en-IN"/>
          </a:p>
        </p:txBody>
      </p:sp>
      <p:sp>
        <p:nvSpPr>
          <p:cNvPr id="3" name="Shape 1"/>
          <p:cNvSpPr/>
          <p:nvPr/>
        </p:nvSpPr>
        <p:spPr>
          <a:xfrm>
            <a:off x="0" y="5070348"/>
            <a:ext cx="9144000" cy="73152"/>
          </a:xfrm>
          <a:prstGeom prst="rect">
            <a:avLst/>
          </a:prstGeom>
          <a:solidFill>
            <a:srgbClr val="FFD43B"/>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464457" y="767915"/>
            <a:ext cx="914400" cy="914400"/>
          </a:xfrm>
          <a:prstGeom prst="rect">
            <a:avLst/>
          </a:prstGeom>
        </p:spPr>
      </p:pic>
      <p:sp>
        <p:nvSpPr>
          <p:cNvPr id="5" name="Text 2"/>
          <p:cNvSpPr/>
          <p:nvPr/>
        </p:nvSpPr>
        <p:spPr>
          <a:xfrm>
            <a:off x="457200" y="1554480"/>
            <a:ext cx="8229600" cy="822960"/>
          </a:xfrm>
          <a:prstGeom prst="rect">
            <a:avLst/>
          </a:prstGeom>
          <a:noFill/>
          <a:ln/>
        </p:spPr>
        <p:txBody>
          <a:bodyPr wrap="square"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You're Ready!</a:t>
            </a:r>
            <a:endParaRPr lang="en-US" sz="4200" dirty="0"/>
          </a:p>
        </p:txBody>
      </p:sp>
      <p:sp>
        <p:nvSpPr>
          <p:cNvPr id="6" name="Text 3"/>
          <p:cNvSpPr/>
          <p:nvPr/>
        </p:nvSpPr>
        <p:spPr>
          <a:xfrm>
            <a:off x="548639" y="2374537"/>
            <a:ext cx="7315200" cy="457200"/>
          </a:xfrm>
          <a:prstGeom prst="rect">
            <a:avLst/>
          </a:prstGeom>
          <a:noFill/>
          <a:ln/>
        </p:spPr>
        <p:txBody>
          <a:bodyPr wrap="square" rtlCol="0" anchor="ctr"/>
          <a:lstStyle/>
          <a:p>
            <a:pPr marL="0" indent="0">
              <a:buNone/>
            </a:pPr>
            <a:r>
              <a:rPr lang="en-US" sz="2000" i="1" dirty="0">
                <a:solidFill>
                  <a:srgbClr val="F0C040"/>
                </a:solidFill>
                <a:latin typeface="Calibri" pitchFamily="34" charset="0"/>
                <a:ea typeface="Calibri" pitchFamily="34" charset="-122"/>
                <a:cs typeface="Calibri" pitchFamily="34" charset="-120"/>
              </a:rPr>
              <a:t>Now let's put Python to work.</a:t>
            </a:r>
            <a:endParaRPr lang="en-US" sz="2000" dirty="0"/>
          </a:p>
        </p:txBody>
      </p:sp>
      <p:sp>
        <p:nvSpPr>
          <p:cNvPr id="7" name="Shape 4"/>
          <p:cNvSpPr/>
          <p:nvPr/>
        </p:nvSpPr>
        <p:spPr>
          <a:xfrm flipV="1">
            <a:off x="548639" y="3017520"/>
            <a:ext cx="6991531" cy="49313"/>
          </a:xfrm>
          <a:prstGeom prst="rect">
            <a:avLst/>
          </a:prstGeom>
          <a:solidFill>
            <a:srgbClr val="4B8BBE">
              <a:alpha val="50000"/>
            </a:srgbClr>
          </a:solidFill>
          <a:ln/>
        </p:spPr>
        <p:txBody>
          <a:bodyPr/>
          <a:lstStyle/>
          <a:p>
            <a:endParaRPr lang="en-IN"/>
          </a:p>
        </p:txBody>
      </p:sp>
      <p:pic>
        <p:nvPicPr>
          <p:cNvPr id="8" name="Image 1" descr="preencoded.png"/>
          <p:cNvPicPr>
            <a:picLocks noChangeAspect="1"/>
          </p:cNvPicPr>
          <p:nvPr/>
        </p:nvPicPr>
        <p:blipFill>
          <a:blip r:embed="rId4"/>
          <a:stretch>
            <a:fillRect/>
          </a:stretch>
        </p:blipFill>
        <p:spPr>
          <a:xfrm>
            <a:off x="548640" y="3393295"/>
            <a:ext cx="228600" cy="228600"/>
          </a:xfrm>
          <a:prstGeom prst="rect">
            <a:avLst/>
          </a:prstGeom>
        </p:spPr>
      </p:pic>
      <p:sp>
        <p:nvSpPr>
          <p:cNvPr id="9" name="Text 5"/>
          <p:cNvSpPr/>
          <p:nvPr/>
        </p:nvSpPr>
        <p:spPr>
          <a:xfrm>
            <a:off x="914400" y="3393295"/>
            <a:ext cx="4572000" cy="274320"/>
          </a:xfrm>
          <a:prstGeom prst="rect">
            <a:avLst/>
          </a:prstGeom>
          <a:noFill/>
          <a:ln/>
        </p:spPr>
        <p:txBody>
          <a:bodyPr wrap="square" lIns="0" tIns="0" rIns="0" bIns="0" rtlCol="0" anchor="ctr"/>
          <a:lstStyle/>
          <a:p>
            <a:pPr marL="0" indent="0">
              <a:buNone/>
            </a:pPr>
            <a:r>
              <a:rPr lang="en-US" sz="1400" dirty="0">
                <a:solidFill>
                  <a:srgbClr val="E8ECF1"/>
                </a:solidFill>
                <a:latin typeface="Calibri" pitchFamily="34" charset="0"/>
                <a:ea typeface="Calibri" pitchFamily="34" charset="-122"/>
                <a:cs typeface="Calibri" pitchFamily="34" charset="-120"/>
              </a:rPr>
              <a:t>Practice with Jupyter Notebooks</a:t>
            </a:r>
            <a:endParaRPr lang="en-US" sz="1400" dirty="0"/>
          </a:p>
        </p:txBody>
      </p:sp>
      <p:pic>
        <p:nvPicPr>
          <p:cNvPr id="10" name="Image 2" descr="preencoded.png"/>
          <p:cNvPicPr>
            <a:picLocks noChangeAspect="1"/>
          </p:cNvPicPr>
          <p:nvPr/>
        </p:nvPicPr>
        <p:blipFill>
          <a:blip r:embed="rId4"/>
          <a:stretch>
            <a:fillRect/>
          </a:stretch>
        </p:blipFill>
        <p:spPr>
          <a:xfrm>
            <a:off x="548640" y="3804775"/>
            <a:ext cx="228600" cy="228600"/>
          </a:xfrm>
          <a:prstGeom prst="rect">
            <a:avLst/>
          </a:prstGeom>
        </p:spPr>
      </p:pic>
      <p:sp>
        <p:nvSpPr>
          <p:cNvPr id="11" name="Text 6"/>
          <p:cNvSpPr/>
          <p:nvPr/>
        </p:nvSpPr>
        <p:spPr>
          <a:xfrm>
            <a:off x="914400" y="3804775"/>
            <a:ext cx="4572000" cy="274320"/>
          </a:xfrm>
          <a:prstGeom prst="rect">
            <a:avLst/>
          </a:prstGeom>
          <a:noFill/>
          <a:ln/>
        </p:spPr>
        <p:txBody>
          <a:bodyPr wrap="square" lIns="0" tIns="0" rIns="0" bIns="0" rtlCol="0" anchor="ctr"/>
          <a:lstStyle/>
          <a:p>
            <a:pPr marL="0" indent="0">
              <a:buNone/>
            </a:pPr>
            <a:r>
              <a:rPr lang="en-US" sz="1400" dirty="0">
                <a:solidFill>
                  <a:srgbClr val="E8ECF1"/>
                </a:solidFill>
                <a:latin typeface="Calibri" pitchFamily="34" charset="0"/>
                <a:ea typeface="Calibri" pitchFamily="34" charset="-122"/>
                <a:cs typeface="Calibri" pitchFamily="34" charset="-120"/>
              </a:rPr>
              <a:t>Explore Python documentation at docs.python.org</a:t>
            </a:r>
            <a:endParaRPr lang="en-US" sz="1400" dirty="0"/>
          </a:p>
        </p:txBody>
      </p:sp>
      <p:pic>
        <p:nvPicPr>
          <p:cNvPr id="12" name="Image 3" descr="preencoded.png"/>
          <p:cNvPicPr>
            <a:picLocks noChangeAspect="1"/>
          </p:cNvPicPr>
          <p:nvPr/>
        </p:nvPicPr>
        <p:blipFill>
          <a:blip r:embed="rId4"/>
          <a:stretch>
            <a:fillRect/>
          </a:stretch>
        </p:blipFill>
        <p:spPr>
          <a:xfrm>
            <a:off x="548640" y="4216255"/>
            <a:ext cx="228600" cy="228600"/>
          </a:xfrm>
          <a:prstGeom prst="rect">
            <a:avLst/>
          </a:prstGeom>
        </p:spPr>
      </p:pic>
      <p:sp>
        <p:nvSpPr>
          <p:cNvPr id="13" name="Text 7"/>
          <p:cNvSpPr/>
          <p:nvPr/>
        </p:nvSpPr>
        <p:spPr>
          <a:xfrm>
            <a:off x="914400" y="4216255"/>
            <a:ext cx="4572000" cy="274320"/>
          </a:xfrm>
          <a:prstGeom prst="rect">
            <a:avLst/>
          </a:prstGeom>
          <a:noFill/>
          <a:ln/>
        </p:spPr>
        <p:txBody>
          <a:bodyPr wrap="square" lIns="0" tIns="0" rIns="0" bIns="0" rtlCol="0" anchor="ctr"/>
          <a:lstStyle/>
          <a:p>
            <a:pPr marL="0" indent="0">
              <a:buNone/>
            </a:pPr>
            <a:r>
              <a:rPr lang="en-US" sz="1400" dirty="0">
                <a:solidFill>
                  <a:srgbClr val="E8ECF1"/>
                </a:solidFill>
                <a:latin typeface="Calibri" pitchFamily="34" charset="0"/>
                <a:ea typeface="Calibri" pitchFamily="34" charset="-122"/>
                <a:cs typeface="Calibri" pitchFamily="34" charset="-120"/>
              </a:rPr>
              <a:t>Start building — the best way to learn is by doing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fa4170-0d19-0005-0004-bc88714345d2}" enabled="1" method="Standard" siteId="{2243f965-7483-47b5-8481-26f2d02b5c39}" contentBits="0" removed="0"/>
</clbl:labelList>
</file>

<file path=docProps/app.xml><?xml version="1.0" encoding="utf-8"?>
<Properties xmlns="http://schemas.openxmlformats.org/officeDocument/2006/extended-properties" xmlns:vt="http://schemas.openxmlformats.org/officeDocument/2006/docPropsVTypes">
  <TotalTime>4</TotalTime>
  <Words>2967</Words>
  <Application>Microsoft Office PowerPoint</Application>
  <PresentationFormat>On-screen Show (16:9)</PresentationFormat>
  <Paragraphs>290</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Essentials</dc:title>
  <dc:subject>PptxGenJS Presentation</dc:subject>
  <dc:creator>Python Training</dc:creator>
  <cp:lastModifiedBy>Jalal Khan</cp:lastModifiedBy>
  <cp:revision>5</cp:revision>
  <dcterms:created xsi:type="dcterms:W3CDTF">2026-02-06T07:03:45Z</dcterms:created>
  <dcterms:modified xsi:type="dcterms:W3CDTF">2026-02-06T07:11:02Z</dcterms:modified>
</cp:coreProperties>
</file>